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3" r:id="rId3"/>
    <p:sldId id="257" r:id="rId4"/>
    <p:sldId id="262" r:id="rId5"/>
    <p:sldId id="261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A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97D520-8FCF-FE38-F137-57E669D09CE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058562" y="55079"/>
            <a:ext cx="3246539" cy="16883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398A074-15A3-86FD-43A8-D67E08B081DF}"/>
              </a:ext>
            </a:extLst>
          </p:cNvPr>
          <p:cNvSpPr txBox="1"/>
          <p:nvPr userDrawn="1"/>
        </p:nvSpPr>
        <p:spPr>
          <a:xfrm>
            <a:off x="2922494" y="6382867"/>
            <a:ext cx="6423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Copyright and all other Rights Reserved Business Cyber Guardian ®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ausetake9.org/latest/" TargetMode="External"/><Relationship Id="rId7" Type="http://schemas.openxmlformats.org/officeDocument/2006/relationships/hyperlink" Target="https://youtu.be/em_YZaZ10c4?si=whAn3v9DSEGu2rf2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justice.gov/usao-ma/pr/thirteen-individuals-charged-operating-transnational-elder-fraud-scheme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innovation.consumerreports.org/2026ConsumerCyberReadinessReport.pdf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lnkd.in/p/gSCeEEcG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8521E-4087-BEB5-7A8F-D52F451F9F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Don’t just trust, Verify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EC8BA9-ACCE-47C8-5D2C-8880829D9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 list of scams affecting Seniors</a:t>
            </a:r>
          </a:p>
          <a:p>
            <a:r>
              <a:rPr lang="en-US" dirty="0"/>
              <a:t>Dick and Joanne Brooks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58B574-8871-3360-E75E-039DAC4DAA6E}"/>
              </a:ext>
            </a:extLst>
          </p:cNvPr>
          <p:cNvSpPr txBox="1"/>
          <p:nvPr/>
        </p:nvSpPr>
        <p:spPr>
          <a:xfrm>
            <a:off x="2922494" y="6382867"/>
            <a:ext cx="6423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Copyright and all other Rights Reserved Business Cyber Guardian ®</a:t>
            </a:r>
          </a:p>
        </p:txBody>
      </p:sp>
    </p:spTree>
    <p:extLst>
      <p:ext uri="{BB962C8B-B14F-4D97-AF65-F5344CB8AC3E}">
        <p14:creationId xmlns:p14="http://schemas.microsoft.com/office/powerpoint/2010/main" val="1720335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FC21E-2136-63CA-1084-00C395A3A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170330"/>
            <a:ext cx="10131425" cy="851646"/>
          </a:xfrm>
        </p:spPr>
        <p:txBody>
          <a:bodyPr/>
          <a:lstStyle/>
          <a:p>
            <a:r>
              <a:rPr lang="en-US" dirty="0"/>
              <a:t>Cyber Crime in MA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880643-1AA4-4298-69AA-453A0A42A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344" y="903625"/>
            <a:ext cx="5836337" cy="562267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EE629EF-4E00-BB2B-33AC-D99890EA9A59}"/>
              </a:ext>
            </a:extLst>
          </p:cNvPr>
          <p:cNvSpPr/>
          <p:nvPr/>
        </p:nvSpPr>
        <p:spPr>
          <a:xfrm>
            <a:off x="6248400" y="4634753"/>
            <a:ext cx="1658471" cy="88750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DD325-3018-4D69-C88F-D9EE02D01937}"/>
              </a:ext>
            </a:extLst>
          </p:cNvPr>
          <p:cNvSpPr txBox="1"/>
          <p:nvPr/>
        </p:nvSpPr>
        <p:spPr>
          <a:xfrm>
            <a:off x="1999130" y="6562166"/>
            <a:ext cx="73504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Source: https://www.linkedin.com/pulse/massachusetts-businesses-lost-137-million-cybercrime-last-aldom-jzwqc/</a:t>
            </a:r>
          </a:p>
        </p:txBody>
      </p:sp>
    </p:spTree>
    <p:extLst>
      <p:ext uri="{BB962C8B-B14F-4D97-AF65-F5344CB8AC3E}">
        <p14:creationId xmlns:p14="http://schemas.microsoft.com/office/powerpoint/2010/main" val="28275641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700D03-3E6C-A1BB-BD4C-3BD1B5191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008" y="0"/>
            <a:ext cx="554198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5E23FF3-67EB-FF99-84A9-F2060547AA98}"/>
              </a:ext>
            </a:extLst>
          </p:cNvPr>
          <p:cNvSpPr txBox="1"/>
          <p:nvPr/>
        </p:nvSpPr>
        <p:spPr>
          <a:xfrm>
            <a:off x="7664823" y="6096000"/>
            <a:ext cx="3803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3"/>
              </a:rPr>
              <a:t>https://pausetake9.org/latest/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8EDBDE-FB8A-F1D4-EB44-EA3D5EE5D6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029" y="326295"/>
            <a:ext cx="1200318" cy="1095528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2426DB37-6762-7C32-5E9F-211DE5BB75CE}"/>
              </a:ext>
            </a:extLst>
          </p:cNvPr>
          <p:cNvGrpSpPr/>
          <p:nvPr/>
        </p:nvGrpSpPr>
        <p:grpSpPr>
          <a:xfrm>
            <a:off x="7212289" y="5258634"/>
            <a:ext cx="4394120" cy="837366"/>
            <a:chOff x="7185395" y="5249674"/>
            <a:chExt cx="4394120" cy="837366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5FDB61-3BD3-3777-06D9-B769E27047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85395" y="5644898"/>
              <a:ext cx="4394120" cy="442142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D225C6E-5E23-8D60-212A-F3A22C6B76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185395" y="5249674"/>
              <a:ext cx="3082748" cy="395224"/>
            </a:xfrm>
            <a:prstGeom prst="rect">
              <a:avLst/>
            </a:prstGeom>
          </p:spPr>
        </p:pic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75B8C04-1F43-CC5F-4FAA-0A13DB62C934}"/>
              </a:ext>
            </a:extLst>
          </p:cNvPr>
          <p:cNvSpPr/>
          <p:nvPr/>
        </p:nvSpPr>
        <p:spPr>
          <a:xfrm>
            <a:off x="9000565" y="116539"/>
            <a:ext cx="1649506" cy="161364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Grandparent Scams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3CBF7B9-0CB2-3202-BDCF-7DD61A03E684}"/>
              </a:ext>
            </a:extLst>
          </p:cNvPr>
          <p:cNvSpPr/>
          <p:nvPr/>
        </p:nvSpPr>
        <p:spPr>
          <a:xfrm>
            <a:off x="1667435" y="1815353"/>
            <a:ext cx="1649506" cy="1613647"/>
          </a:xfrm>
          <a:prstGeom prst="roundRect">
            <a:avLst/>
          </a:prstGeom>
          <a:solidFill>
            <a:srgbClr val="F8CA0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Parking Meter Scams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QR Codes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F35F022-EC21-130D-D463-19D47C838039}"/>
              </a:ext>
            </a:extLst>
          </p:cNvPr>
          <p:cNvSpPr/>
          <p:nvPr/>
        </p:nvSpPr>
        <p:spPr>
          <a:xfrm>
            <a:off x="8977700" y="1822494"/>
            <a:ext cx="1649506" cy="161364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Trusted Email </a:t>
            </a:r>
            <a:r>
              <a:rPr lang="en-US" dirty="0" err="1">
                <a:solidFill>
                  <a:schemeClr val="bg1"/>
                </a:solidFill>
              </a:rPr>
              <a:t>Breakin</a:t>
            </a:r>
            <a:r>
              <a:rPr lang="en-US" dirty="0">
                <a:solidFill>
                  <a:schemeClr val="bg1"/>
                </a:solidFill>
              </a:rPr>
              <a:t> Scams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5DF05D-4B3F-667E-B046-1A415E9D2869}"/>
              </a:ext>
            </a:extLst>
          </p:cNvPr>
          <p:cNvSpPr txBox="1"/>
          <p:nvPr/>
        </p:nvSpPr>
        <p:spPr>
          <a:xfrm>
            <a:off x="8712524" y="3583372"/>
            <a:ext cx="3371436" cy="8156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7"/>
              </a:rPr>
              <a:t>Interpol Video Fake Call</a:t>
            </a:r>
          </a:p>
          <a:p>
            <a:r>
              <a:rPr lang="en-US" sz="1100" dirty="0">
                <a:hlinkClick r:id="rId7"/>
              </a:rPr>
              <a:t>https://youtu.be/em_YZaZ10c4?si=whAn3v9DSEGu2rf2</a:t>
            </a:r>
            <a:endParaRPr lang="en-US" sz="11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775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56D203-6182-D365-6C1B-380D2760B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85" y="275685"/>
            <a:ext cx="4439270" cy="37247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3678779-C4D8-EA27-207F-6C4CA128A3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7" y="3145681"/>
            <a:ext cx="5869734" cy="285118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E10859-822B-BCFF-FFC5-878F6C692E76}"/>
              </a:ext>
            </a:extLst>
          </p:cNvPr>
          <p:cNvSpPr txBox="1"/>
          <p:nvPr/>
        </p:nvSpPr>
        <p:spPr>
          <a:xfrm>
            <a:off x="1246094" y="6095999"/>
            <a:ext cx="105912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https://www.justice.gov/usao-ma/pr/thirteen-individuals-charged-operating-transnational-elder-fraud-scheme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F267F4-EA3F-E8C8-27F4-3660C6961F43}"/>
              </a:ext>
            </a:extLst>
          </p:cNvPr>
          <p:cNvSpPr txBox="1"/>
          <p:nvPr/>
        </p:nvSpPr>
        <p:spPr>
          <a:xfrm>
            <a:off x="6033247" y="457200"/>
            <a:ext cx="469231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i="1" dirty="0"/>
              <a:t>Robert DeMarino</a:t>
            </a:r>
            <a:endParaRPr lang="en-US" dirty="0"/>
          </a:p>
          <a:p>
            <a:r>
              <a:rPr lang="en-US" i="1" dirty="0"/>
              <a:t>Cyber Program Coordinator</a:t>
            </a:r>
            <a:endParaRPr lang="en-US" dirty="0"/>
          </a:p>
          <a:p>
            <a:r>
              <a:rPr lang="en-US" i="1" dirty="0"/>
              <a:t>Massachusetts State Police</a:t>
            </a:r>
            <a:endParaRPr lang="en-US" dirty="0"/>
          </a:p>
          <a:p>
            <a:r>
              <a:rPr lang="en-US" i="1" dirty="0"/>
              <a:t>Division of Homeland Security and Preparedness</a:t>
            </a:r>
            <a:endParaRPr lang="en-US" dirty="0"/>
          </a:p>
          <a:p>
            <a:r>
              <a:rPr lang="en-US" i="1" dirty="0"/>
              <a:t>Commonwealth Fusion Center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80341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6E1D4-512A-6715-CB4C-73140A32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risks at home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A8490-E728-5BDF-5FA5-D128C54946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Wi-Fi Routers</a:t>
            </a:r>
          </a:p>
          <a:p>
            <a:r>
              <a:rPr lang="en-US" dirty="0"/>
              <a:t>Smart Thermostats</a:t>
            </a:r>
          </a:p>
          <a:p>
            <a:r>
              <a:rPr lang="en-US" dirty="0"/>
              <a:t>Surveillance Cameras</a:t>
            </a:r>
          </a:p>
          <a:p>
            <a:r>
              <a:rPr lang="en-US" dirty="0"/>
              <a:t>Ring Doorbells</a:t>
            </a:r>
          </a:p>
          <a:p>
            <a:r>
              <a:rPr lang="en-US" dirty="0"/>
              <a:t>Home Assistants (i.e. Alexa, Siri,  Google)</a:t>
            </a:r>
          </a:p>
          <a:p>
            <a:r>
              <a:rPr lang="en-US" dirty="0"/>
              <a:t>Smart TV’s</a:t>
            </a:r>
          </a:p>
          <a:p>
            <a:r>
              <a:rPr lang="en-US" dirty="0"/>
              <a:t>Home Computer Use</a:t>
            </a:r>
          </a:p>
          <a:p>
            <a:pPr lvl="1"/>
            <a:r>
              <a:rPr lang="en-US" dirty="0"/>
              <a:t>Email</a:t>
            </a:r>
          </a:p>
          <a:p>
            <a:pPr lvl="1"/>
            <a:r>
              <a:rPr lang="en-US" dirty="0"/>
              <a:t>Web Browsing</a:t>
            </a:r>
          </a:p>
          <a:p>
            <a:r>
              <a:rPr lang="en-US" dirty="0"/>
              <a:t>Cell phones (</a:t>
            </a:r>
            <a:r>
              <a:rPr lang="en-US" dirty="0" err="1"/>
              <a:t>SMSishing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Bluetooth hacking</a:t>
            </a:r>
          </a:p>
          <a:p>
            <a:r>
              <a:rPr lang="en-US" dirty="0"/>
              <a:t>Visitors using their cell phones on your wi-fi </a:t>
            </a:r>
          </a:p>
          <a:p>
            <a:r>
              <a:rPr lang="en-US" dirty="0"/>
              <a:t>Neighbors within range of your wi-fi</a:t>
            </a:r>
          </a:p>
          <a:p>
            <a:r>
              <a:rPr lang="en-US" dirty="0"/>
              <a:t>Swatting</a:t>
            </a:r>
          </a:p>
        </p:txBody>
      </p:sp>
    </p:spTree>
    <p:extLst>
      <p:ext uri="{BB962C8B-B14F-4D97-AF65-F5344CB8AC3E}">
        <p14:creationId xmlns:p14="http://schemas.microsoft.com/office/powerpoint/2010/main" val="3790871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1991E-AD51-DECC-2E3C-9D763F1F3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Can you do to protect yourself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531D-74F2-4F0F-E942-C83DF665B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Always ask yourself these 2 questions:</a:t>
            </a:r>
          </a:p>
          <a:p>
            <a:pPr lvl="1"/>
            <a:r>
              <a:rPr lang="en-US" dirty="0"/>
              <a:t>Does this involve money?</a:t>
            </a:r>
          </a:p>
          <a:p>
            <a:pPr lvl="1"/>
            <a:r>
              <a:rPr lang="en-US" dirty="0"/>
              <a:t>Is there a sense of urgency? </a:t>
            </a:r>
          </a:p>
          <a:p>
            <a:r>
              <a:rPr lang="en-US" dirty="0"/>
              <a:t>If you answered yes to any of these</a:t>
            </a:r>
          </a:p>
          <a:p>
            <a:pPr lvl="1"/>
            <a:r>
              <a:rPr lang="en-US" dirty="0"/>
              <a:t>STOP, this could be a scam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8973C-7033-0ACA-D27D-251AAEC8B0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0989" y="1971986"/>
            <a:ext cx="3056237" cy="39892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5FF39E-0494-4562-A47B-BAE3F8343478}"/>
              </a:ext>
            </a:extLst>
          </p:cNvPr>
          <p:cNvSpPr txBox="1"/>
          <p:nvPr/>
        </p:nvSpPr>
        <p:spPr>
          <a:xfrm>
            <a:off x="7001435" y="6248400"/>
            <a:ext cx="493436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hlinkClick r:id="rId3"/>
              </a:rPr>
              <a:t>https://innovation.consumerreports.org/2026ConsumerCyberReadinessReport.pdf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437222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239663-80B2-DEB2-5F71-475EA2CBE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practical cybersecurity habits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4DF9A-08D0-A62E-852D-FC3F09AFE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1. If a message creates urgency, stop and give yourself a few minutes before clicking, replying, or sharing information. Urgency is a huge red flag.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2. If a legitimate institution asks you to provide a password, a verification code, or sensitive information, contact them through a phone number or app you already know instead of replying to the message you received.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3. Don’t assume a familiar voice, face or caller ID proves who you’re talking to. Deepfakes have become cheap and easy. If something feels off, hang up and call the person directly.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4. Create a family safe word that only you know and use it to verify unexpected emergency calls, especially requests involving money.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5. Limit the personal information you share publicly, including travel plans, birthdays, family names, schools, workplaces, and other details someone could use to make a scam believable.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03D482-C7D9-5B2E-ACBC-E2A026AD48A0}"/>
              </a:ext>
            </a:extLst>
          </p:cNvPr>
          <p:cNvSpPr txBox="1"/>
          <p:nvPr/>
        </p:nvSpPr>
        <p:spPr>
          <a:xfrm>
            <a:off x="753034" y="6060141"/>
            <a:ext cx="3505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2"/>
              </a:rPr>
              <a:t>https://lnkd.in/p/gSCeEEcG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00545A-37E8-4A4A-1238-49508D7A1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452" y="5593623"/>
            <a:ext cx="7001852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584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17CE-FDA7-0FFD-0CF4-8BC7C103C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6813" y="2680449"/>
            <a:ext cx="10131425" cy="869576"/>
          </a:xfrm>
        </p:spPr>
        <p:txBody>
          <a:bodyPr>
            <a:normAutofit fontScale="90000"/>
          </a:bodyPr>
          <a:lstStyle/>
          <a:p>
            <a:r>
              <a:rPr lang="en-US" dirty="0"/>
              <a:t>Contact local law enforcement If you think you’ve become a victim of cybercrime</a:t>
            </a:r>
          </a:p>
        </p:txBody>
      </p:sp>
    </p:spTree>
    <p:extLst>
      <p:ext uri="{BB962C8B-B14F-4D97-AF65-F5344CB8AC3E}">
        <p14:creationId xmlns:p14="http://schemas.microsoft.com/office/powerpoint/2010/main" val="14839942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CG-Celestial-Background" id="{FA05001E-2570-4C8F-AC7E-06ED5E64A348}" vid="{858A18C7-8BC5-451B-B293-373C092A2AC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BCG-Celestial-Background</Template>
  <TotalTime>167</TotalTime>
  <Words>430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Celestial</vt:lpstr>
      <vt:lpstr>Don’t just trust, Verify</vt:lpstr>
      <vt:lpstr>Cyber Crime in MA</vt:lpstr>
      <vt:lpstr>PowerPoint Presentation</vt:lpstr>
      <vt:lpstr>PowerPoint Presentation</vt:lpstr>
      <vt:lpstr>What about risks at home</vt:lpstr>
      <vt:lpstr>What Can you do to protect yourself</vt:lpstr>
      <vt:lpstr>5 practical cybersecurity habits</vt:lpstr>
      <vt:lpstr>Contact local law enforcement If you think you’ve become a victim of cybercrime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Dick Brooks</dc:creator>
  <cp:lastModifiedBy>Dick Brooks</cp:lastModifiedBy>
  <cp:revision>33</cp:revision>
  <dcterms:created xsi:type="dcterms:W3CDTF">2026-09-27T15:07:42Z</dcterms:created>
  <dcterms:modified xsi:type="dcterms:W3CDTF">2026-10-24T17:53:29Z</dcterms:modified>
</cp:coreProperties>
</file>