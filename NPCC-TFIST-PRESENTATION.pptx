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61" r:id="rId4"/>
    <p:sldId id="264" r:id="rId5"/>
    <p:sldId id="263" r:id="rId6"/>
    <p:sldId id="259" r:id="rId7"/>
    <p:sldId id="265"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pic>
        <p:nvPicPr>
          <p:cNvPr id="9" name="Picture 8">
            <a:extLst>
              <a:ext uri="{FF2B5EF4-FFF2-40B4-BE49-F238E27FC236}">
                <a16:creationId xmlns:a16="http://schemas.microsoft.com/office/drawing/2014/main" id="{4A97D520-8FCF-FE38-F137-57E669D09CE3}"/>
              </a:ext>
            </a:extLst>
          </p:cNvPr>
          <p:cNvPicPr>
            <a:picLocks noChangeAspect="1"/>
          </p:cNvPicPr>
          <p:nvPr userDrawn="1"/>
        </p:nvPicPr>
        <p:blipFill>
          <a:blip r:embed="rId3"/>
          <a:stretch>
            <a:fillRect/>
          </a:stretch>
        </p:blipFill>
        <p:spPr>
          <a:xfrm>
            <a:off x="5058562" y="55079"/>
            <a:ext cx="3246539" cy="1688345"/>
          </a:xfrm>
          <a:prstGeom prst="rect">
            <a:avLst/>
          </a:prstGeom>
        </p:spPr>
      </p:pic>
      <p:sp>
        <p:nvSpPr>
          <p:cNvPr id="8" name="TextBox 7">
            <a:extLst>
              <a:ext uri="{FF2B5EF4-FFF2-40B4-BE49-F238E27FC236}">
                <a16:creationId xmlns:a16="http://schemas.microsoft.com/office/drawing/2014/main" id="{A398A074-15A3-86FD-43A8-D67E08B081DF}"/>
              </a:ext>
            </a:extLst>
          </p:cNvPr>
          <p:cNvSpPr txBox="1"/>
          <p:nvPr userDrawn="1"/>
        </p:nvSpPr>
        <p:spPr>
          <a:xfrm>
            <a:off x="2922494" y="6382867"/>
            <a:ext cx="6423682" cy="369332"/>
          </a:xfrm>
          <a:prstGeom prst="rect">
            <a:avLst/>
          </a:prstGeom>
          <a:noFill/>
        </p:spPr>
        <p:txBody>
          <a:bodyPr wrap="none" rtlCol="0">
            <a:spAutoFit/>
          </a:bodyPr>
          <a:lstStyle/>
          <a:p>
            <a:pPr algn="ctr"/>
            <a:r>
              <a:rPr lang="en-US" dirty="0"/>
              <a:t>Copyright and all other Rights Reserved Business Cyber Guardian ®</a:t>
            </a:r>
          </a:p>
        </p:txBody>
      </p:sp>
    </p:spTree>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10/28/2026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naesb.org/" TargetMode="External"/><Relationship Id="rId3" Type="http://schemas.openxmlformats.org/officeDocument/2006/relationships/hyperlink" Target="https://naesb.org/pdf4/weq_2026_api_1b_rec_091426_attachment2.docx" TargetMode="External"/><Relationship Id="rId7" Type="http://schemas.openxmlformats.org/officeDocument/2006/relationships/hyperlink" Target="mailto:naesb@naesb.org" TargetMode="External"/><Relationship Id="rId2" Type="http://schemas.openxmlformats.org/officeDocument/2006/relationships/hyperlink" Target="https://naesb.org/pdf4/weq_ec102126a2.docx" TargetMode="External"/><Relationship Id="rId1" Type="http://schemas.openxmlformats.org/officeDocument/2006/relationships/slideLayout" Target="../slideLayouts/slideLayout2.xml"/><Relationship Id="rId6" Type="http://schemas.openxmlformats.org/officeDocument/2006/relationships/hyperlink" Target="https://businesscyberguardian.com/" TargetMode="External"/><Relationship Id="rId5" Type="http://schemas.openxmlformats.org/officeDocument/2006/relationships/hyperlink" Target="mailto:dick@businesscyberguardian.com" TargetMode="External"/><Relationship Id="rId4" Type="http://schemas.openxmlformats.org/officeDocument/2006/relationships/hyperlink" Target="https://www.energycentral.com/intelligent-utility/post/revised-product-cybersecurity-procurement-contract-langauge-for-critical-SM0EnzT70YcFOKp" TargetMode="External"/><Relationship Id="rId9" Type="http://schemas.openxmlformats.org/officeDocument/2006/relationships/hyperlink" Target="https://www.ecfr.gov/current/title-18/chapter-I/subchapter-B/part-3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521E-4087-BEB5-7A8F-D52F451F9FBC}"/>
              </a:ext>
            </a:extLst>
          </p:cNvPr>
          <p:cNvSpPr>
            <a:spLocks noGrp="1"/>
          </p:cNvSpPr>
          <p:nvPr>
            <p:ph type="ctrTitle"/>
          </p:nvPr>
        </p:nvSpPr>
        <p:spPr/>
        <p:txBody>
          <a:bodyPr/>
          <a:lstStyle/>
          <a:p>
            <a:r>
              <a:rPr lang="en-US" dirty="0"/>
              <a:t>NAESB </a:t>
            </a:r>
            <a:r>
              <a:rPr lang="en-US" dirty="0" err="1"/>
              <a:t>CYBERSECUrity</a:t>
            </a:r>
            <a:endParaRPr lang="en-US" dirty="0"/>
          </a:p>
        </p:txBody>
      </p:sp>
      <p:sp>
        <p:nvSpPr>
          <p:cNvPr id="3" name="Subtitle 2">
            <a:extLst>
              <a:ext uri="{FF2B5EF4-FFF2-40B4-BE49-F238E27FC236}">
                <a16:creationId xmlns:a16="http://schemas.microsoft.com/office/drawing/2014/main" id="{19EC8BA9-ACCE-47C8-5D2C-8880829D97EE}"/>
              </a:ext>
            </a:extLst>
          </p:cNvPr>
          <p:cNvSpPr>
            <a:spLocks noGrp="1"/>
          </p:cNvSpPr>
          <p:nvPr>
            <p:ph type="subTitle" idx="1"/>
          </p:nvPr>
        </p:nvSpPr>
        <p:spPr/>
        <p:txBody>
          <a:bodyPr/>
          <a:lstStyle/>
          <a:p>
            <a:r>
              <a:rPr lang="en-US" dirty="0"/>
              <a:t>Procurement Contract  Addendum proposed standard</a:t>
            </a:r>
          </a:p>
          <a:p>
            <a:r>
              <a:rPr lang="en-US" dirty="0"/>
              <a:t>Dick Brooks</a:t>
            </a:r>
          </a:p>
          <a:p>
            <a:r>
              <a:rPr lang="en-US"/>
              <a:t>NAESB Interim CSS </a:t>
            </a:r>
            <a:r>
              <a:rPr lang="en-US" dirty="0"/>
              <a:t>Chair</a:t>
            </a:r>
          </a:p>
        </p:txBody>
      </p:sp>
      <p:sp>
        <p:nvSpPr>
          <p:cNvPr id="4" name="TextBox 3">
            <a:extLst>
              <a:ext uri="{FF2B5EF4-FFF2-40B4-BE49-F238E27FC236}">
                <a16:creationId xmlns:a16="http://schemas.microsoft.com/office/drawing/2014/main" id="{AD58B574-8871-3360-E75E-039DAC4DAA6E}"/>
              </a:ext>
            </a:extLst>
          </p:cNvPr>
          <p:cNvSpPr txBox="1"/>
          <p:nvPr/>
        </p:nvSpPr>
        <p:spPr>
          <a:xfrm>
            <a:off x="2922494" y="6382867"/>
            <a:ext cx="6423682" cy="369332"/>
          </a:xfrm>
          <a:prstGeom prst="rect">
            <a:avLst/>
          </a:prstGeom>
          <a:noFill/>
        </p:spPr>
        <p:txBody>
          <a:bodyPr wrap="none" rtlCol="0">
            <a:spAutoFit/>
          </a:bodyPr>
          <a:lstStyle/>
          <a:p>
            <a:pPr algn="ctr"/>
            <a:r>
              <a:rPr lang="en-US" dirty="0"/>
              <a:t>Copyright and all other Rights Reserved Business Cyber Guardian ®</a:t>
            </a:r>
          </a:p>
        </p:txBody>
      </p:sp>
    </p:spTree>
    <p:extLst>
      <p:ext uri="{BB962C8B-B14F-4D97-AF65-F5344CB8AC3E}">
        <p14:creationId xmlns:p14="http://schemas.microsoft.com/office/powerpoint/2010/main" val="172033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20883-FDAE-306F-B248-5A6C268C42F2}"/>
              </a:ext>
            </a:extLst>
          </p:cNvPr>
          <p:cNvSpPr>
            <a:spLocks noGrp="1"/>
          </p:cNvSpPr>
          <p:nvPr>
            <p:ph type="title"/>
          </p:nvPr>
        </p:nvSpPr>
        <p:spPr>
          <a:xfrm>
            <a:off x="685801" y="609600"/>
            <a:ext cx="10131425" cy="627529"/>
          </a:xfrm>
        </p:spPr>
        <p:txBody>
          <a:bodyPr>
            <a:normAutofit fontScale="90000"/>
          </a:bodyPr>
          <a:lstStyle/>
          <a:p>
            <a:r>
              <a:rPr lang="en-US" dirty="0"/>
              <a:t>Key Provisions</a:t>
            </a:r>
          </a:p>
        </p:txBody>
      </p:sp>
      <p:sp>
        <p:nvSpPr>
          <p:cNvPr id="3" name="Content Placeholder 2">
            <a:extLst>
              <a:ext uri="{FF2B5EF4-FFF2-40B4-BE49-F238E27FC236}">
                <a16:creationId xmlns:a16="http://schemas.microsoft.com/office/drawing/2014/main" id="{1F411FE2-7969-11FC-F75F-7348EB53BE56}"/>
              </a:ext>
            </a:extLst>
          </p:cNvPr>
          <p:cNvSpPr>
            <a:spLocks noGrp="1"/>
          </p:cNvSpPr>
          <p:nvPr>
            <p:ph idx="1"/>
          </p:nvPr>
        </p:nvSpPr>
        <p:spPr>
          <a:xfrm>
            <a:off x="685801" y="1237129"/>
            <a:ext cx="10131425" cy="5262283"/>
          </a:xfrm>
        </p:spPr>
        <p:txBody>
          <a:bodyPr>
            <a:normAutofit/>
          </a:bodyPr>
          <a:lstStyle/>
          <a:p>
            <a:pPr fontAlgn="t">
              <a:lnSpc>
                <a:spcPts val="1500"/>
              </a:lnSpc>
              <a:buNone/>
            </a:pPr>
            <a:r>
              <a:rPr lang="en-US" b="1" dirty="0">
                <a:latin typeface="Segoe UI" panose="020B0502040204020203" pitchFamily="34" charset="0"/>
              </a:rPr>
              <a:t>Section 3 establishes a mandatory vendor cybersecurity program requiring </a:t>
            </a:r>
          </a:p>
          <a:p>
            <a:pPr fontAlgn="t">
              <a:lnSpc>
                <a:spcPts val="1500"/>
              </a:lnSpc>
            </a:pPr>
            <a:r>
              <a:rPr lang="en-US" b="1" dirty="0">
                <a:latin typeface="Segoe UI" panose="020B0502040204020203" pitchFamily="34" charset="0"/>
              </a:rPr>
              <a:t>secure by design development practices, </a:t>
            </a:r>
          </a:p>
          <a:p>
            <a:pPr fontAlgn="t">
              <a:lnSpc>
                <a:spcPts val="1500"/>
              </a:lnSpc>
            </a:pPr>
            <a:r>
              <a:rPr lang="en-US" b="1" dirty="0">
                <a:latin typeface="Segoe UI" panose="020B0502040204020203" pitchFamily="34" charset="0"/>
              </a:rPr>
              <a:t>vulnerability management, </a:t>
            </a:r>
          </a:p>
          <a:p>
            <a:pPr fontAlgn="t">
              <a:lnSpc>
                <a:spcPts val="1500"/>
              </a:lnSpc>
            </a:pPr>
            <a:r>
              <a:rPr lang="en-US" b="1" dirty="0">
                <a:latin typeface="Segoe UI" panose="020B0502040204020203" pitchFamily="34" charset="0"/>
              </a:rPr>
              <a:t>rapid incident reporting, </a:t>
            </a:r>
          </a:p>
          <a:p>
            <a:pPr fontAlgn="t">
              <a:lnSpc>
                <a:spcPts val="1500"/>
              </a:lnSpc>
            </a:pPr>
            <a:r>
              <a:rPr lang="en-US" b="1" dirty="0">
                <a:latin typeface="Segoe UI" panose="020B0502040204020203" pitchFamily="34" charset="0"/>
              </a:rPr>
              <a:t>remediation planning, and </a:t>
            </a:r>
          </a:p>
          <a:p>
            <a:pPr fontAlgn="t">
              <a:lnSpc>
                <a:spcPts val="1500"/>
              </a:lnSpc>
            </a:pPr>
            <a:r>
              <a:rPr lang="en-US" b="1" dirty="0">
                <a:latin typeface="Segoe UI" panose="020B0502040204020203" pitchFamily="34" charset="0"/>
              </a:rPr>
              <a:t>coordinated disclosure to protect electric-sector supply chains and Bulk Power System operations</a:t>
            </a:r>
          </a:p>
          <a:p>
            <a:pPr fontAlgn="t">
              <a:lnSpc>
                <a:spcPts val="1500"/>
              </a:lnSpc>
              <a:buNone/>
            </a:pPr>
            <a:r>
              <a:rPr lang="en-US" b="1" dirty="0">
                <a:latin typeface="Segoe UI" panose="020B0502040204020203" pitchFamily="34" charset="0"/>
              </a:rPr>
              <a:t>Five Key Themes</a:t>
            </a:r>
          </a:p>
          <a:p>
            <a:pPr fontAlgn="t">
              <a:lnSpc>
                <a:spcPts val="1500"/>
              </a:lnSpc>
              <a:buFont typeface="+mj-lt"/>
              <a:buAutoNum type="arabicPeriod"/>
            </a:pPr>
            <a:r>
              <a:rPr lang="en-US" b="1" dirty="0">
                <a:latin typeface="Segoe UI" panose="020B0502040204020203" pitchFamily="34" charset="0"/>
              </a:rPr>
              <a:t>Governance</a:t>
            </a:r>
            <a:r>
              <a:rPr lang="en-US" dirty="0">
                <a:latin typeface="Segoe UI" panose="020B0502040204020203" pitchFamily="34" charset="0"/>
              </a:rPr>
              <a:t> - Executive-approved cybersecurity policies.</a:t>
            </a:r>
          </a:p>
          <a:p>
            <a:pPr fontAlgn="t">
              <a:lnSpc>
                <a:spcPts val="1500"/>
              </a:lnSpc>
              <a:buFont typeface="+mj-lt"/>
              <a:buAutoNum type="arabicPeriod"/>
            </a:pPr>
            <a:r>
              <a:rPr lang="en-US" b="1" dirty="0">
                <a:latin typeface="Segoe UI" panose="020B0502040204020203" pitchFamily="34" charset="0"/>
              </a:rPr>
              <a:t>Standards Compliance</a:t>
            </a:r>
            <a:r>
              <a:rPr lang="en-US" dirty="0">
                <a:latin typeface="Segoe UI" panose="020B0502040204020203" pitchFamily="34" charset="0"/>
              </a:rPr>
              <a:t> - ISO, NIST, and IEC alignment.</a:t>
            </a:r>
          </a:p>
          <a:p>
            <a:pPr fontAlgn="t">
              <a:lnSpc>
                <a:spcPts val="1500"/>
              </a:lnSpc>
              <a:buFont typeface="+mj-lt"/>
              <a:buAutoNum type="arabicPeriod"/>
            </a:pPr>
            <a:r>
              <a:rPr lang="en-US" b="1" dirty="0">
                <a:latin typeface="Segoe UI" panose="020B0502040204020203" pitchFamily="34" charset="0"/>
              </a:rPr>
              <a:t>Vulnerability Transparency</a:t>
            </a:r>
            <a:r>
              <a:rPr lang="en-US" dirty="0">
                <a:latin typeface="Segoe UI" panose="020B0502040204020203" pitchFamily="34" charset="0"/>
              </a:rPr>
              <a:t> - Rapid disclosure of security issues.</a:t>
            </a:r>
          </a:p>
          <a:p>
            <a:pPr fontAlgn="t">
              <a:lnSpc>
                <a:spcPts val="1500"/>
              </a:lnSpc>
              <a:buFont typeface="+mj-lt"/>
              <a:buAutoNum type="arabicPeriod"/>
            </a:pPr>
            <a:r>
              <a:rPr lang="en-US" b="1" dirty="0">
                <a:latin typeface="Segoe UI" panose="020B0502040204020203" pitchFamily="34" charset="0"/>
              </a:rPr>
              <a:t>Remediation Accountability</a:t>
            </a:r>
            <a:r>
              <a:rPr lang="en-US" dirty="0">
                <a:latin typeface="Segoe UI" panose="020B0502040204020203" pitchFamily="34" charset="0"/>
              </a:rPr>
              <a:t> - Documented plans and status reporting.</a:t>
            </a:r>
          </a:p>
          <a:p>
            <a:pPr fontAlgn="t">
              <a:lnSpc>
                <a:spcPts val="1500"/>
              </a:lnSpc>
              <a:buFont typeface="+mj-lt"/>
              <a:buAutoNum type="arabicPeriod"/>
            </a:pPr>
            <a:r>
              <a:rPr lang="en-US" b="1" dirty="0">
                <a:latin typeface="Segoe UI" panose="020B0502040204020203" pitchFamily="34" charset="0"/>
              </a:rPr>
              <a:t>Grid Security Protection</a:t>
            </a:r>
            <a:r>
              <a:rPr lang="en-US" dirty="0">
                <a:latin typeface="Segoe UI" panose="020B0502040204020203" pitchFamily="34" charset="0"/>
              </a:rPr>
              <a:t> - Coordinated disclosure to E-ISAC and CISA</a:t>
            </a:r>
          </a:p>
          <a:p>
            <a:endParaRPr lang="en-US" dirty="0"/>
          </a:p>
        </p:txBody>
      </p:sp>
    </p:spTree>
    <p:extLst>
      <p:ext uri="{BB962C8B-B14F-4D97-AF65-F5344CB8AC3E}">
        <p14:creationId xmlns:p14="http://schemas.microsoft.com/office/powerpoint/2010/main" val="173076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692DA-0A0C-0C08-0263-56933633DDA9}"/>
              </a:ext>
            </a:extLst>
          </p:cNvPr>
          <p:cNvSpPr>
            <a:spLocks noGrp="1"/>
          </p:cNvSpPr>
          <p:nvPr>
            <p:ph type="title"/>
          </p:nvPr>
        </p:nvSpPr>
        <p:spPr/>
        <p:txBody>
          <a:bodyPr/>
          <a:lstStyle/>
          <a:p>
            <a:r>
              <a:rPr lang="en-US" dirty="0"/>
              <a:t>Guiding Principles</a:t>
            </a:r>
          </a:p>
        </p:txBody>
      </p:sp>
      <p:sp>
        <p:nvSpPr>
          <p:cNvPr id="3" name="Content Placeholder 2">
            <a:extLst>
              <a:ext uri="{FF2B5EF4-FFF2-40B4-BE49-F238E27FC236}">
                <a16:creationId xmlns:a16="http://schemas.microsoft.com/office/drawing/2014/main" id="{5580A3A0-FEC6-D1B3-88A8-091B3FC5A836}"/>
              </a:ext>
            </a:extLst>
          </p:cNvPr>
          <p:cNvSpPr>
            <a:spLocks noGrp="1"/>
          </p:cNvSpPr>
          <p:nvPr>
            <p:ph idx="1"/>
          </p:nvPr>
        </p:nvSpPr>
        <p:spPr/>
        <p:txBody>
          <a:bodyPr/>
          <a:lstStyle/>
          <a:p>
            <a:r>
              <a:rPr lang="en-US" dirty="0"/>
              <a:t>Align with and leverage existing cybersecurity regulations placed on product manufacturers</a:t>
            </a:r>
          </a:p>
          <a:p>
            <a:pPr lvl="1"/>
            <a:r>
              <a:rPr lang="en-US" dirty="0"/>
              <a:t>NERC CIP-010</a:t>
            </a:r>
          </a:p>
          <a:p>
            <a:pPr lvl="1"/>
            <a:r>
              <a:rPr lang="en-US" dirty="0"/>
              <a:t>NERC CIP-013</a:t>
            </a:r>
          </a:p>
          <a:p>
            <a:pPr lvl="1"/>
            <a:r>
              <a:rPr lang="en-US" dirty="0"/>
              <a:t>FERC Order 912</a:t>
            </a:r>
          </a:p>
          <a:p>
            <a:pPr lvl="1"/>
            <a:r>
              <a:rPr lang="en-US" dirty="0"/>
              <a:t>Vulnerability Reporting and Supply Chain Risk Management Regulations applicable to product manufacturers:</a:t>
            </a:r>
          </a:p>
          <a:p>
            <a:pPr lvl="2"/>
            <a:r>
              <a:rPr lang="en-US" dirty="0"/>
              <a:t>EU CRA</a:t>
            </a:r>
          </a:p>
          <a:p>
            <a:pPr lvl="2"/>
            <a:r>
              <a:rPr lang="en-US" dirty="0"/>
              <a:t>CISA CIRCIA</a:t>
            </a:r>
          </a:p>
          <a:p>
            <a:pPr lvl="2"/>
            <a:r>
              <a:rPr lang="en-US" dirty="0"/>
              <a:t>NIST Secure Development Framework and the CSF V2.0</a:t>
            </a:r>
          </a:p>
          <a:p>
            <a:pPr lvl="2"/>
            <a:r>
              <a:rPr lang="en-US" dirty="0"/>
              <a:t>CISA Secure  by Design best practices (SAG)</a:t>
            </a:r>
          </a:p>
          <a:p>
            <a:r>
              <a:rPr lang="en-US" dirty="0"/>
              <a:t>DO NO HARM</a:t>
            </a:r>
          </a:p>
        </p:txBody>
      </p:sp>
    </p:spTree>
    <p:extLst>
      <p:ext uri="{BB962C8B-B14F-4D97-AF65-F5344CB8AC3E}">
        <p14:creationId xmlns:p14="http://schemas.microsoft.com/office/powerpoint/2010/main" val="2778612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CF78-35E4-4805-8591-5634614F859B}"/>
              </a:ext>
            </a:extLst>
          </p:cNvPr>
          <p:cNvSpPr>
            <a:spLocks noGrp="1"/>
          </p:cNvSpPr>
          <p:nvPr>
            <p:ph type="title"/>
          </p:nvPr>
        </p:nvSpPr>
        <p:spPr/>
        <p:txBody>
          <a:bodyPr/>
          <a:lstStyle/>
          <a:p>
            <a:r>
              <a:rPr lang="en-US" dirty="0"/>
              <a:t>Setting Vendor Expectations</a:t>
            </a:r>
          </a:p>
        </p:txBody>
      </p:sp>
      <p:sp>
        <p:nvSpPr>
          <p:cNvPr id="3" name="Content Placeholder 2">
            <a:extLst>
              <a:ext uri="{FF2B5EF4-FFF2-40B4-BE49-F238E27FC236}">
                <a16:creationId xmlns:a16="http://schemas.microsoft.com/office/drawing/2014/main" id="{B69FD5F8-B5D4-433D-702E-C9CC517103CB}"/>
              </a:ext>
            </a:extLst>
          </p:cNvPr>
          <p:cNvSpPr>
            <a:spLocks noGrp="1"/>
          </p:cNvSpPr>
          <p:nvPr>
            <p:ph idx="1"/>
          </p:nvPr>
        </p:nvSpPr>
        <p:spPr/>
        <p:txBody>
          <a:bodyPr>
            <a:normAutofit fontScale="77500" lnSpcReduction="20000"/>
          </a:bodyPr>
          <a:lstStyle/>
          <a:p>
            <a:pPr fontAlgn="t">
              <a:lnSpc>
                <a:spcPts val="1500"/>
              </a:lnSpc>
              <a:buNone/>
            </a:pPr>
            <a:r>
              <a:rPr lang="en-US" b="1" dirty="0">
                <a:latin typeface="Segoe UI" panose="020B0502040204020203" pitchFamily="34" charset="0"/>
              </a:rPr>
              <a:t>Objective:</a:t>
            </a:r>
            <a:r>
              <a:rPr lang="en-US" dirty="0">
                <a:latin typeface="Segoe UI" panose="020B0502040204020203" pitchFamily="34" charset="0"/>
              </a:rPr>
              <a:t> Require vendors to operate a formal cybersecurity program that provides product security transparency, vulnerability management, rapid disclosure, coordinated remediation, and protection of critical electric infrastructure. </a:t>
            </a:r>
          </a:p>
          <a:p>
            <a:pPr fontAlgn="t">
              <a:lnSpc>
                <a:spcPts val="1500"/>
              </a:lnSpc>
              <a:buNone/>
            </a:pPr>
            <a:endParaRPr lang="en-US" dirty="0">
              <a:latin typeface="Segoe UI" panose="020B0502040204020203" pitchFamily="34" charset="0"/>
            </a:endParaRPr>
          </a:p>
          <a:p>
            <a:pPr fontAlgn="t">
              <a:lnSpc>
                <a:spcPts val="1500"/>
              </a:lnSpc>
              <a:buNone/>
            </a:pPr>
            <a:r>
              <a:rPr lang="en-US" b="1" dirty="0">
                <a:latin typeface="Segoe UI" panose="020B0502040204020203" pitchFamily="34" charset="0"/>
              </a:rPr>
              <a:t>Vendor Obligations</a:t>
            </a:r>
          </a:p>
          <a:p>
            <a:pPr fontAlgn="t">
              <a:lnSpc>
                <a:spcPts val="1500"/>
              </a:lnSpc>
              <a:buNone/>
            </a:pPr>
            <a:r>
              <a:rPr lang="en-US" dirty="0">
                <a:latin typeface="Segoe UI" panose="020B0502040204020203" pitchFamily="34" charset="0"/>
              </a:rPr>
              <a:t>✅ Maintain officer-approved cybersecurity policies and procedures and provide updates to Product Users when they change.</a:t>
            </a:r>
          </a:p>
          <a:p>
            <a:pPr fontAlgn="t">
              <a:lnSpc>
                <a:spcPts val="1500"/>
              </a:lnSpc>
              <a:buNone/>
            </a:pPr>
            <a:r>
              <a:rPr lang="en-US" dirty="0">
                <a:latin typeface="Segoe UI" panose="020B0502040204020203" pitchFamily="34" charset="0"/>
              </a:rPr>
              <a:t>✅ Manage product inventories, version control, and security-related product updates and vulnerability disclosure reports. </a:t>
            </a:r>
          </a:p>
          <a:p>
            <a:pPr fontAlgn="t">
              <a:lnSpc>
                <a:spcPts val="1500"/>
              </a:lnSpc>
              <a:buNone/>
            </a:pPr>
            <a:r>
              <a:rPr lang="en-US" dirty="0">
                <a:latin typeface="Segoe UI" panose="020B0502040204020203" pitchFamily="34" charset="0"/>
              </a:rPr>
              <a:t>✅ Align cybersecurity programs with recognized standards including ISO 27001, NIST SP 800-218, IEC 62443-4-1, and IEC 62443-4-2, where applicable. </a:t>
            </a:r>
          </a:p>
          <a:p>
            <a:pPr fontAlgn="t">
              <a:lnSpc>
                <a:spcPts val="1500"/>
              </a:lnSpc>
              <a:buNone/>
            </a:pPr>
            <a:r>
              <a:rPr lang="en-US" dirty="0">
                <a:latin typeface="Segoe UI" panose="020B0502040204020203" pitchFamily="34" charset="0"/>
              </a:rPr>
              <a:t>✅ Operate a formal vulnerability detection, assessment, root-cause analysis, and remediation program.</a:t>
            </a:r>
          </a:p>
          <a:p>
            <a:pPr fontAlgn="t">
              <a:lnSpc>
                <a:spcPts val="1500"/>
              </a:lnSpc>
              <a:buNone/>
            </a:pPr>
            <a:r>
              <a:rPr lang="en-US" dirty="0">
                <a:latin typeface="Segoe UI" panose="020B0502040204020203" pitchFamily="34" charset="0"/>
              </a:rPr>
              <a:t>✅ Provide product users with a completed Exhibit A (Product List) with a Secure by Design Attestation (Vendor Response File)</a:t>
            </a:r>
            <a:endParaRPr lang="en-US" dirty="0"/>
          </a:p>
          <a:p>
            <a:pPr fontAlgn="t">
              <a:lnSpc>
                <a:spcPts val="1500"/>
              </a:lnSpc>
              <a:buNone/>
            </a:pPr>
            <a:endParaRPr lang="en-US" dirty="0"/>
          </a:p>
        </p:txBody>
      </p:sp>
    </p:spTree>
    <p:extLst>
      <p:ext uri="{BB962C8B-B14F-4D97-AF65-F5344CB8AC3E}">
        <p14:creationId xmlns:p14="http://schemas.microsoft.com/office/powerpoint/2010/main" val="1352690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3ACB1-940D-D972-B9FE-0606E32BD44F}"/>
              </a:ext>
            </a:extLst>
          </p:cNvPr>
          <p:cNvSpPr>
            <a:spLocks noGrp="1"/>
          </p:cNvSpPr>
          <p:nvPr>
            <p:ph type="title"/>
          </p:nvPr>
        </p:nvSpPr>
        <p:spPr>
          <a:xfrm>
            <a:off x="685801" y="179295"/>
            <a:ext cx="10131425" cy="1138518"/>
          </a:xfrm>
        </p:spPr>
        <p:txBody>
          <a:bodyPr/>
          <a:lstStyle/>
          <a:p>
            <a:r>
              <a:rPr lang="en-US" dirty="0"/>
              <a:t>Vendor Expectations cont’d</a:t>
            </a:r>
          </a:p>
        </p:txBody>
      </p:sp>
      <p:sp>
        <p:nvSpPr>
          <p:cNvPr id="3" name="Content Placeholder 2">
            <a:extLst>
              <a:ext uri="{FF2B5EF4-FFF2-40B4-BE49-F238E27FC236}">
                <a16:creationId xmlns:a16="http://schemas.microsoft.com/office/drawing/2014/main" id="{3253FE5E-C1C5-1C11-E86D-1084D5A63B45}"/>
              </a:ext>
            </a:extLst>
          </p:cNvPr>
          <p:cNvSpPr>
            <a:spLocks noGrp="1"/>
          </p:cNvSpPr>
          <p:nvPr>
            <p:ph idx="1"/>
          </p:nvPr>
        </p:nvSpPr>
        <p:spPr>
          <a:xfrm>
            <a:off x="685801" y="1559859"/>
            <a:ext cx="10131425" cy="4231341"/>
          </a:xfrm>
        </p:spPr>
        <p:txBody>
          <a:bodyPr>
            <a:normAutofit/>
          </a:bodyPr>
          <a:lstStyle/>
          <a:p>
            <a:pPr fontAlgn="t">
              <a:lnSpc>
                <a:spcPts val="1500"/>
              </a:lnSpc>
              <a:buNone/>
            </a:pPr>
            <a:r>
              <a:rPr lang="en-US" dirty="0">
                <a:latin typeface="Segoe UI" panose="020B0502040204020203" pitchFamily="34" charset="0"/>
              </a:rPr>
              <a:t>✅ Report:</a:t>
            </a:r>
          </a:p>
          <a:p>
            <a:pPr fontAlgn="t">
              <a:lnSpc>
                <a:spcPts val="1500"/>
              </a:lnSpc>
              <a:buFont typeface="Arial" panose="020B0604020202020204" pitchFamily="34" charset="0"/>
              <a:buChar char="•"/>
            </a:pPr>
            <a:r>
              <a:rPr lang="en-US" dirty="0">
                <a:latin typeface="Segoe UI" panose="020B0502040204020203" pitchFamily="34" charset="0"/>
              </a:rPr>
              <a:t>Confirmed exploitable vulnerabilities and severe incidents within </a:t>
            </a:r>
            <a:r>
              <a:rPr lang="en-US" b="1" dirty="0">
                <a:latin typeface="Segoe UI" panose="020B0502040204020203" pitchFamily="34" charset="0"/>
              </a:rPr>
              <a:t>72 hours</a:t>
            </a:r>
            <a:endParaRPr lang="en-US" dirty="0">
              <a:latin typeface="Segoe UI" panose="020B0502040204020203" pitchFamily="34" charset="0"/>
            </a:endParaRPr>
          </a:p>
          <a:p>
            <a:pPr fontAlgn="t">
              <a:lnSpc>
                <a:spcPts val="1500"/>
              </a:lnSpc>
              <a:buFont typeface="Arial" panose="020B0604020202020204" pitchFamily="34" charset="0"/>
              <a:buChar char="•"/>
            </a:pPr>
            <a:r>
              <a:rPr lang="en-US" dirty="0">
                <a:latin typeface="Segoe UI" panose="020B0502040204020203" pitchFamily="34" charset="0"/>
              </a:rPr>
              <a:t>High-risk vulnerabilities with known exploits </a:t>
            </a:r>
            <a:r>
              <a:rPr lang="en-US" b="1" dirty="0">
                <a:latin typeface="Segoe UI" panose="020B0502040204020203" pitchFamily="34" charset="0"/>
              </a:rPr>
              <a:t>immediately</a:t>
            </a:r>
            <a:endParaRPr lang="en-US" dirty="0">
              <a:latin typeface="Segoe UI" panose="020B0502040204020203" pitchFamily="34" charset="0"/>
            </a:endParaRPr>
          </a:p>
          <a:p>
            <a:pPr fontAlgn="t">
              <a:lnSpc>
                <a:spcPts val="1500"/>
              </a:lnSpc>
              <a:buFont typeface="Arial" panose="020B0604020202020204" pitchFamily="34" charset="0"/>
              <a:buChar char="•"/>
            </a:pPr>
            <a:r>
              <a:rPr lang="en-US" dirty="0">
                <a:latin typeface="Segoe UI" panose="020B0502040204020203" pitchFamily="34" charset="0"/>
              </a:rPr>
              <a:t>Vendor-identified incidents affecting product security or protected information </a:t>
            </a:r>
            <a:r>
              <a:rPr lang="en-US" b="1" dirty="0">
                <a:latin typeface="Segoe UI" panose="020B0502040204020203" pitchFamily="34" charset="0"/>
              </a:rPr>
              <a:t>immediately</a:t>
            </a:r>
            <a:r>
              <a:rPr lang="en-US" dirty="0">
                <a:latin typeface="Segoe UI" panose="020B0502040204020203" pitchFamily="34" charset="0"/>
              </a:rPr>
              <a:t> </a:t>
            </a:r>
          </a:p>
          <a:p>
            <a:pPr marL="0" indent="0" fontAlgn="t">
              <a:lnSpc>
                <a:spcPts val="1500"/>
              </a:lnSpc>
              <a:buNone/>
            </a:pPr>
            <a:r>
              <a:rPr lang="en-US" dirty="0">
                <a:latin typeface="Segoe UI" panose="020B0502040204020203" pitchFamily="34" charset="0"/>
              </a:rPr>
              <a:t>✅ Provide vulnerability assessments, remediation plans, compensating controls, workarounds, and ongoing status updates for all reported vulnerabilities affecting a product. </a:t>
            </a:r>
          </a:p>
          <a:p>
            <a:pPr fontAlgn="t">
              <a:lnSpc>
                <a:spcPts val="1500"/>
              </a:lnSpc>
              <a:buNone/>
            </a:pPr>
            <a:r>
              <a:rPr lang="en-US" dirty="0">
                <a:latin typeface="Segoe UI" panose="020B0502040204020203" pitchFamily="34" charset="0"/>
              </a:rPr>
              <a:t>✅ Disclose vulnerabilities affecting Bulk Power System and grid operations through coordinated industry channels including E-ISAC and CISA. </a:t>
            </a:r>
          </a:p>
          <a:p>
            <a:pPr fontAlgn="t">
              <a:lnSpc>
                <a:spcPts val="1500"/>
              </a:lnSpc>
              <a:buNone/>
            </a:pPr>
            <a:endParaRPr lang="en-US" b="1" dirty="0">
              <a:latin typeface="Segoe UI" panose="020B0502040204020203" pitchFamily="34" charset="0"/>
            </a:endParaRPr>
          </a:p>
          <a:p>
            <a:pPr fontAlgn="t">
              <a:lnSpc>
                <a:spcPts val="1500"/>
              </a:lnSpc>
              <a:buNone/>
            </a:pPr>
            <a:r>
              <a:rPr lang="en-US" b="1" dirty="0">
                <a:latin typeface="Segoe UI" panose="020B0502040204020203" pitchFamily="34" charset="0"/>
              </a:rPr>
              <a:t>Bottom Line</a:t>
            </a:r>
          </a:p>
          <a:p>
            <a:pPr fontAlgn="t">
              <a:lnSpc>
                <a:spcPts val="1500"/>
              </a:lnSpc>
              <a:buNone/>
            </a:pPr>
            <a:endParaRPr lang="en-US" b="1" dirty="0">
              <a:latin typeface="Segoe UI" panose="020B0502040204020203" pitchFamily="34" charset="0"/>
            </a:endParaRPr>
          </a:p>
          <a:p>
            <a:pPr fontAlgn="t">
              <a:lnSpc>
                <a:spcPts val="1500"/>
              </a:lnSpc>
              <a:buNone/>
            </a:pPr>
            <a:r>
              <a:rPr lang="en-US" b="1" dirty="0">
                <a:latin typeface="Segoe UI" panose="020B0502040204020203" pitchFamily="34" charset="0"/>
              </a:rPr>
              <a:t>Section 3 establishes a cybersecurity supply-chain accountability framework that requires vendors to continuously identify, disclose, remediate, and communicate product cybersecurity risks and adhere to secure by design best practices set by CISA throughout the product lifecycle, particularly for products supporting critical electric infrastructure.</a:t>
            </a:r>
            <a:endParaRPr lang="en-US" dirty="0">
              <a:latin typeface="Segoe UI" panose="020B0502040204020203" pitchFamily="34" charset="0"/>
            </a:endParaRPr>
          </a:p>
          <a:p>
            <a:endParaRPr lang="en-US" dirty="0"/>
          </a:p>
        </p:txBody>
      </p:sp>
    </p:spTree>
    <p:extLst>
      <p:ext uri="{BB962C8B-B14F-4D97-AF65-F5344CB8AC3E}">
        <p14:creationId xmlns:p14="http://schemas.microsoft.com/office/powerpoint/2010/main" val="962453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F22D-A3E2-BA92-F84B-4A1E1B960162}"/>
              </a:ext>
            </a:extLst>
          </p:cNvPr>
          <p:cNvSpPr>
            <a:spLocks noGrp="1"/>
          </p:cNvSpPr>
          <p:nvPr>
            <p:ph type="title"/>
          </p:nvPr>
        </p:nvSpPr>
        <p:spPr/>
        <p:txBody>
          <a:bodyPr/>
          <a:lstStyle/>
          <a:p>
            <a:r>
              <a:rPr lang="en-US" dirty="0"/>
              <a:t>Section 5 – Special Conditions</a:t>
            </a:r>
          </a:p>
        </p:txBody>
      </p:sp>
      <p:sp>
        <p:nvSpPr>
          <p:cNvPr id="3" name="Content Placeholder 2">
            <a:extLst>
              <a:ext uri="{FF2B5EF4-FFF2-40B4-BE49-F238E27FC236}">
                <a16:creationId xmlns:a16="http://schemas.microsoft.com/office/drawing/2014/main" id="{F3D44070-4075-39AA-0D23-E9E9358D0D14}"/>
              </a:ext>
            </a:extLst>
          </p:cNvPr>
          <p:cNvSpPr>
            <a:spLocks noGrp="1"/>
          </p:cNvSpPr>
          <p:nvPr>
            <p:ph idx="1"/>
          </p:nvPr>
        </p:nvSpPr>
        <p:spPr/>
        <p:txBody>
          <a:bodyPr/>
          <a:lstStyle/>
          <a:p>
            <a:r>
              <a:rPr lang="en-US" dirty="0"/>
              <a:t>This is where a product users expresses any expectations that are not covered in Section 3</a:t>
            </a:r>
          </a:p>
          <a:p>
            <a:r>
              <a:rPr lang="en-US" dirty="0"/>
              <a:t>Here are some good examples of what a product users may specify in Section 5 Special Conditions</a:t>
            </a:r>
          </a:p>
          <a:p>
            <a:pPr lvl="1"/>
            <a:r>
              <a:rPr lang="en-US" dirty="0"/>
              <a:t>Vendor MUST NOT perform any automated patching on production systems</a:t>
            </a:r>
          </a:p>
          <a:p>
            <a:pPr lvl="1"/>
            <a:r>
              <a:rPr lang="en-US" dirty="0"/>
              <a:t>Vendor MUST promptly deliver all product patches and upgrades to the designated party for testing </a:t>
            </a:r>
          </a:p>
          <a:p>
            <a:pPr lvl="1"/>
            <a:r>
              <a:rPr lang="en-US" dirty="0"/>
              <a:t>Vendor NUST provide a method for product user to test product patches and upgrades and deploy approved patches/upgrades in production systems at the product users choosing</a:t>
            </a:r>
          </a:p>
        </p:txBody>
      </p:sp>
    </p:spTree>
    <p:extLst>
      <p:ext uri="{BB962C8B-B14F-4D97-AF65-F5344CB8AC3E}">
        <p14:creationId xmlns:p14="http://schemas.microsoft.com/office/powerpoint/2010/main" val="1250455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55BA-3450-568F-BE22-0CE8DC13A403}"/>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1CA3FD77-64CE-2B43-0157-1D9B8AE76EF9}"/>
              </a:ext>
            </a:extLst>
          </p:cNvPr>
          <p:cNvSpPr>
            <a:spLocks noGrp="1"/>
          </p:cNvSpPr>
          <p:nvPr>
            <p:ph idx="1"/>
          </p:nvPr>
        </p:nvSpPr>
        <p:spPr/>
        <p:txBody>
          <a:bodyPr/>
          <a:lstStyle/>
          <a:p>
            <a:r>
              <a:rPr lang="en-US" dirty="0"/>
              <a:t>NAESB CS Addendum proposed standard: </a:t>
            </a:r>
            <a:r>
              <a:rPr lang="en-US" dirty="0">
                <a:hlinkClick r:id="rId2"/>
              </a:rPr>
              <a:t>https://naesb.org/pdf4/weq_ec102126a2.docx</a:t>
            </a:r>
            <a:r>
              <a:rPr lang="en-US" dirty="0"/>
              <a:t>  </a:t>
            </a:r>
          </a:p>
          <a:p>
            <a:r>
              <a:rPr lang="en-US" dirty="0"/>
              <a:t>NAESB CS Addendum FAQ: </a:t>
            </a:r>
            <a:r>
              <a:rPr lang="en-US" dirty="0">
                <a:hlinkClick r:id="rId3"/>
              </a:rPr>
              <a:t>https://naesb.org/pdf4/weq_2026_api_1b_rec_091426_attachment2.docx</a:t>
            </a:r>
            <a:endParaRPr lang="en-US" dirty="0"/>
          </a:p>
          <a:p>
            <a:r>
              <a:rPr lang="en-US" dirty="0"/>
              <a:t>Unofficial Historical timeline for the development of this standard:  </a:t>
            </a:r>
            <a:r>
              <a:rPr lang="en-US" dirty="0">
                <a:hlinkClick r:id="rId4"/>
              </a:rPr>
              <a:t>https://www.energycentral.com/intelligent-utility/post/revised-product-cybersecurity-procurement-contract-langauge-for-critical-SM0EnzT70YcFOKp</a:t>
            </a:r>
            <a:r>
              <a:rPr lang="en-US" dirty="0"/>
              <a:t> </a:t>
            </a:r>
          </a:p>
          <a:p>
            <a:endParaRPr lang="en-US" dirty="0"/>
          </a:p>
          <a:p>
            <a:r>
              <a:rPr lang="en-US" dirty="0"/>
              <a:t>Contact me: Dick Brooks, </a:t>
            </a:r>
            <a:r>
              <a:rPr lang="en-US" dirty="0">
                <a:hlinkClick r:id="rId5"/>
              </a:rPr>
              <a:t>dick@businesscyberguardian.com</a:t>
            </a:r>
            <a:r>
              <a:rPr lang="en-US" dirty="0"/>
              <a:t>  </a:t>
            </a:r>
            <a:r>
              <a:rPr lang="en-US" dirty="0">
                <a:hlinkClick r:id="rId6"/>
              </a:rPr>
              <a:t>https://businesscyberguardian.com/</a:t>
            </a:r>
            <a:r>
              <a:rPr lang="en-US" dirty="0"/>
              <a:t> </a:t>
            </a:r>
          </a:p>
          <a:p>
            <a:r>
              <a:rPr lang="en-US" dirty="0"/>
              <a:t>Contact NAESB: </a:t>
            </a:r>
            <a:r>
              <a:rPr lang="en-US" dirty="0">
                <a:hlinkClick r:id="rId7"/>
              </a:rPr>
              <a:t>naesb@naesb.org</a:t>
            </a:r>
            <a:r>
              <a:rPr lang="en-US" dirty="0"/>
              <a:t>  </a:t>
            </a:r>
            <a:r>
              <a:rPr lang="en-US" dirty="0">
                <a:hlinkClick r:id="rId8"/>
              </a:rPr>
              <a:t>https://naesb.org</a:t>
            </a:r>
            <a:r>
              <a:rPr lang="en-US" dirty="0"/>
              <a:t> </a:t>
            </a:r>
          </a:p>
          <a:p>
            <a:r>
              <a:rPr lang="en-US" dirty="0"/>
              <a:t>NAESB standards in FERC Regulations: </a:t>
            </a:r>
            <a:r>
              <a:rPr lang="en-US" dirty="0">
                <a:hlinkClick r:id="rId9"/>
              </a:rPr>
              <a:t>https://www.ecfr.gov/current/title-18/chapter-I/subchapter-B/part-38</a:t>
            </a:r>
            <a:r>
              <a:rPr lang="en-US" dirty="0"/>
              <a:t> </a:t>
            </a:r>
          </a:p>
        </p:txBody>
      </p:sp>
    </p:spTree>
    <p:extLst>
      <p:ext uri="{BB962C8B-B14F-4D97-AF65-F5344CB8AC3E}">
        <p14:creationId xmlns:p14="http://schemas.microsoft.com/office/powerpoint/2010/main" val="22702169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BCG-Celestial-Background" id="{FA05001E-2570-4C8F-AC7E-06ED5E64A348}" vid="{858A18C7-8BC5-451B-B293-373C092A2AC0}"/>
    </a:ext>
  </a:extLst>
</a:theme>
</file>

<file path=docProps/app.xml><?xml version="1.0" encoding="utf-8"?>
<Properties xmlns="http://schemas.openxmlformats.org/officeDocument/2006/extended-properties" xmlns:vt="http://schemas.openxmlformats.org/officeDocument/2006/docPropsVTypes">
  <Template>BCG-Celestial-Background</Template>
  <TotalTime>108</TotalTime>
  <Words>643</Words>
  <Application>Microsoft Office PowerPoint</Application>
  <PresentationFormat>Widescreen</PresentationFormat>
  <Paragraphs>63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Segoe UI</vt:lpstr>
      <vt:lpstr>Celestial</vt:lpstr>
      <vt:lpstr>NAESB CYBERSECUrity</vt:lpstr>
      <vt:lpstr>Key Provisions</vt:lpstr>
      <vt:lpstr>Guiding Principles</vt:lpstr>
      <vt:lpstr>Setting Vendor Expectations</vt:lpstr>
      <vt:lpstr>Vendor Expectations cont’d</vt:lpstr>
      <vt:lpstr>Section 5 – Special Conditions</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Dick Brooks</dc:creator>
  <cp:lastModifiedBy>Dick Brooks</cp:lastModifiedBy>
  <cp:revision>9</cp:revision>
  <dcterms:created xsi:type="dcterms:W3CDTF">2026-10-27T18:11:16Z</dcterms:created>
  <dcterms:modified xsi:type="dcterms:W3CDTF">2026-10-28T19:44:42Z</dcterms:modified>
</cp:coreProperties>
</file>