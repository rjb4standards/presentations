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71" r:id="rId6"/>
    <p:sldId id="269" r:id="rId7"/>
    <p:sldId id="272" r:id="rId8"/>
    <p:sldId id="270" r:id="rId9"/>
    <p:sldId id="273" r:id="rId10"/>
    <p:sldId id="274" r:id="rId11"/>
    <p:sldId id="258" r:id="rId12"/>
    <p:sldId id="264" r:id="rId13"/>
    <p:sldId id="259" r:id="rId14"/>
    <p:sldId id="263" r:id="rId15"/>
    <p:sldId id="260" r:id="rId16"/>
    <p:sldId id="261" r:id="rId17"/>
    <p:sldId id="265" r:id="rId18"/>
    <p:sldId id="262" r:id="rId19"/>
    <p:sldId id="26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7D520-8FCF-FE38-F137-57E669D09C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8562" y="55079"/>
            <a:ext cx="3246539" cy="1688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8A074-15A3-86FD-43A8-D67E08B081DF}"/>
              </a:ext>
            </a:extLst>
          </p:cNvPr>
          <p:cNvSpPr txBox="1"/>
          <p:nvPr userDrawn="1"/>
        </p:nvSpPr>
        <p:spPr>
          <a:xfrm>
            <a:off x="2270699" y="6382867"/>
            <a:ext cx="7727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Unrestricted distribution and usage rights granted by Business Cyber Guardian ™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Unrestricted Distribution and Usage Rights granted by Business Cyber Guardian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roadbandusa.ntia.gov/funding-programs/broadband-equity-access-and-deployment-bead-progra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roadbandusa.ntia.gov/funding-programs/policies-waivers/BEAD_Restructuring_Policy_Notic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cybersecurity-performance-goals-2-0-cpg-2-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nvlpubs.nist.gov/nistpubs/SpecialPublications/NIST.SP.800-161r1.pdf" TargetMode="External"/><Relationship Id="rId3" Type="http://schemas.openxmlformats.org/officeDocument/2006/relationships/hyperlink" Target="https://www.cisa.gov/sites/default/files/2023-10/Empowering%20SMBs%20-%20A%20Resource%20Guide%20For%20Developing%20A%20Resilient%20SCRM%20Plan_508_0.pdf" TargetMode="External"/><Relationship Id="rId7" Type="http://schemas.openxmlformats.org/officeDocument/2006/relationships/hyperlink" Target="https://csrc.nist.gov/pubs/ir/8276/final" TargetMode="External"/><Relationship Id="rId2" Type="http://schemas.openxmlformats.org/officeDocument/2006/relationships/hyperlink" Target="https://broadbandusa.ntia.doc.gov/sites/default/files/2022-05/BEAD%20NOFO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hitehouse.gov/briefing-room/presidential-actions/2021/05/12/executive-order-on-improving-the-nations-cybersecurity/" TargetMode="External"/><Relationship Id="rId5" Type="http://schemas.openxmlformats.org/officeDocument/2006/relationships/hyperlink" Target="https://nvlpubs.nist.gov/nistpubs/SpecialPublications/NIST.SP.1300.pdf" TargetMode="External"/><Relationship Id="rId4" Type="http://schemas.openxmlformats.org/officeDocument/2006/relationships/hyperlink" Target="#_ftn1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roadbandusa.ntia.gov/funding-programs/broadband-equity-access-and-deployment-bead-program" TargetMode="External"/><Relationship Id="rId2" Type="http://schemas.openxmlformats.org/officeDocument/2006/relationships/hyperlink" Target="https://broadbandusa.ntia.gov/resources/stat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_RzQMXE4Df0" TargetMode="External"/><Relationship Id="rId3" Type="http://schemas.openxmlformats.org/officeDocument/2006/relationships/hyperlink" Target="https://cisa.gov/sag" TargetMode="External"/><Relationship Id="rId7" Type="http://schemas.openxmlformats.org/officeDocument/2006/relationships/hyperlink" Target="https://www.cisa.gov/software-acquisition-guide/tool" TargetMode="External"/><Relationship Id="rId2" Type="http://schemas.openxmlformats.org/officeDocument/2006/relationships/hyperlink" Target="https://www.cisa.gov/sites/default/files/2023-10/Empowering%20SMBs%20-%20A%20Resource%20Guide%20For%20Developing%20A%20Resilient%20SCRM%20Plan_508_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a.gov/sites/default/files/2024-10/ICT%20SCRM%20Task%20Force%20Software%20Acquisition%20Guide%20Fact%20Sheet%20%28508%29.pdf" TargetMode="External"/><Relationship Id="rId5" Type="http://schemas.openxmlformats.org/officeDocument/2006/relationships/hyperlink" Target="https://www.cisa.gov/sites/default/files/2024-08/PDM24064%20Software%20Acquisition%20Guide%20for%20Government%20Enterprise%20Consumers%20Final-%2020240710_v19.xlsx" TargetMode="External"/><Relationship Id="rId4" Type="http://schemas.openxmlformats.org/officeDocument/2006/relationships/hyperlink" Target="https://www.cisa.gov/sites/default/files/2024-07/PDM24050%20Software%20Acquisition%20Guide%20for%20Government%20Enterprise%20ConsumersV2_508c.pdf" TargetMode="External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RzQMXE4Df0" TargetMode="Externa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.microsoft.com/shares/QLhY366t3XSbYmfegpXEa" TargetMode="External"/><Relationship Id="rId2" Type="http://schemas.openxmlformats.org/officeDocument/2006/relationships/hyperlink" Target="https://www.cisa.gov/ict-scrm-task-force-memb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jb4standards/CISASAGReader/blob/main/README.md" TargetMode="External"/><Relationship Id="rId2" Type="http://schemas.openxmlformats.org/officeDocument/2006/relationships/hyperlink" Target="https://www.cisa.gov/sites/default/files/2024-08/PDM24064%20Software%20Acquisition%20Guide%20for%20Government%20Enterprise%20Consumers%20Final-%2020240710_v19.xlsx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tca.org/advocacy/issues/cybersecurity" TargetMode="External"/><Relationship Id="rId13" Type="http://schemas.openxmlformats.org/officeDocument/2006/relationships/hyperlink" Target="https://github.com/rjb4standards/CISASAGReader/blob/main/README.md" TargetMode="External"/><Relationship Id="rId18" Type="http://schemas.openxmlformats.org/officeDocument/2006/relationships/hyperlink" Target="https://www.cisa.gov/sites/default/files/2024-10/ICT%20SCRM%20Task%20Force%20Software%20Acquisition%20Guide%20Fact%20Sheet%20%28508%29.pdf" TargetMode="External"/><Relationship Id="rId3" Type="http://schemas.openxmlformats.org/officeDocument/2006/relationships/hyperlink" Target="https://broadbandusa.ntia.gov/funding-programs/broadband-equity-access-and-deployment-bead-program" TargetMode="External"/><Relationship Id="rId7" Type="http://schemas.openxmlformats.org/officeDocument/2006/relationships/hyperlink" Target="https://www.nist.gov/cyberframework" TargetMode="External"/><Relationship Id="rId12" Type="http://schemas.openxmlformats.org/officeDocument/2006/relationships/hyperlink" Target="https://www.cisa.gov/resources-tools/resources/no-cost-cybersecurity-services-and-tools" TargetMode="External"/><Relationship Id="rId17" Type="http://schemas.openxmlformats.org/officeDocument/2006/relationships/hyperlink" Target="https://www.cisa.gov/sites/default/files/2024-08/PDM24064%20Software%20Acquisition%20Guide%20for%20Government%20Enterprise%20Consumers%20Final-%2020240710_v19.xlsx" TargetMode="External"/><Relationship Id="rId2" Type="http://schemas.openxmlformats.org/officeDocument/2006/relationships/hyperlink" Target="https://broadbandusa.ntia.gov/sites/default/files/2022-05/BEAD%20NOFO.pdf" TargetMode="External"/><Relationship Id="rId16" Type="http://schemas.openxmlformats.org/officeDocument/2006/relationships/hyperlink" Target="https://www.cisa.gov/sites/default/files/2024-07/PDM24050%20Software%20Acquisition%20Guide%20for%20Government%20Enterprise%20ConsumersV2_508c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roadbandusa.ntia.gov/resources/states" TargetMode="External"/><Relationship Id="rId11" Type="http://schemas.openxmlformats.org/officeDocument/2006/relationships/hyperlink" Target="https://www.youtube.com/watch?v=0iYITlQfi3A" TargetMode="External"/><Relationship Id="rId5" Type="http://schemas.openxmlformats.org/officeDocument/2006/relationships/hyperlink" Target="https://www.ntia.gov/press-release/2026/statement-assistant-secretary-roth-ntia-s-approach-use-21-billion-bead-savings" TargetMode="External"/><Relationship Id="rId15" Type="http://schemas.openxmlformats.org/officeDocument/2006/relationships/hyperlink" Target="https://cisa.gov/sag" TargetMode="External"/><Relationship Id="rId10" Type="http://schemas.openxmlformats.org/officeDocument/2006/relationships/hyperlink" Target="https://www.youtube.com/watch?v=_RzQMXE4Df0" TargetMode="External"/><Relationship Id="rId19" Type="http://schemas.openxmlformats.org/officeDocument/2006/relationships/hyperlink" Target="https://www.linkedin.com/groups/13274064/" TargetMode="External"/><Relationship Id="rId4" Type="http://schemas.openxmlformats.org/officeDocument/2006/relationships/hyperlink" Target="https://broadbandusa.ntia.gov/funding-programs/policies-waivers/BEAD_Restructuring_Policy_Notice" TargetMode="External"/><Relationship Id="rId9" Type="http://schemas.openxmlformats.org/officeDocument/2006/relationships/hyperlink" Target="https://www.nasa.gov/secure-software-development-self-attestation-resources-and-knowledge/" TargetMode="External"/><Relationship Id="rId14" Type="http://schemas.openxmlformats.org/officeDocument/2006/relationships/hyperlink" Target="https://www.cisa.gov/cybersecurity-performance-goals-2-0-cpg-2-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cyberguardian.com/" TargetMode="External"/><Relationship Id="rId2" Type="http://schemas.openxmlformats.org/officeDocument/2006/relationships/hyperlink" Target="mailto:dick@businesscyberguardian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521E-4087-BEB5-7A8F-D52F451F9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3291045"/>
            <a:ext cx="7197726" cy="24214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Bead funding cyber plan requirements / </a:t>
            </a:r>
            <a:br>
              <a:rPr lang="en-US" dirty="0"/>
            </a:br>
            <a:r>
              <a:rPr lang="en-US" dirty="0"/>
              <a:t>CISA Secure by Design Software Acquisition Guide (SAG) </a:t>
            </a:r>
          </a:p>
        </p:txBody>
      </p:sp>
    </p:spTree>
    <p:extLst>
      <p:ext uri="{BB962C8B-B14F-4D97-AF65-F5344CB8AC3E}">
        <p14:creationId xmlns:p14="http://schemas.microsoft.com/office/powerpoint/2010/main" val="17203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DC48-9524-D41D-3684-64B2C679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43436"/>
            <a:ext cx="10131425" cy="1066956"/>
          </a:xfrm>
        </p:spPr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8098C-C7D0-7A6C-3DAF-CE792712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32965"/>
            <a:ext cx="5786717" cy="42582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BEAD</a:t>
            </a:r>
          </a:p>
          <a:p>
            <a:r>
              <a:rPr lang="en-US" dirty="0"/>
              <a:t>State Funding Plans</a:t>
            </a:r>
          </a:p>
          <a:p>
            <a:r>
              <a:rPr lang="en-US" dirty="0"/>
              <a:t>What  are the BEAD Cyber Plan Requirements</a:t>
            </a:r>
          </a:p>
          <a:p>
            <a:r>
              <a:rPr lang="en-US" dirty="0"/>
              <a:t>NTCA Guidance</a:t>
            </a:r>
          </a:p>
          <a:p>
            <a:r>
              <a:rPr lang="en-US" dirty="0"/>
              <a:t>What is the CISA Software Acquisition Guide (SAG)</a:t>
            </a:r>
          </a:p>
          <a:p>
            <a:r>
              <a:rPr lang="en-US" dirty="0"/>
              <a:t>Who created the SAG materials</a:t>
            </a:r>
          </a:p>
          <a:p>
            <a:r>
              <a:rPr lang="en-US" dirty="0"/>
              <a:t>How do Product Manufacturers use the SAG</a:t>
            </a:r>
          </a:p>
          <a:p>
            <a:r>
              <a:rPr lang="en-US" dirty="0"/>
              <a:t>How do Consumers use the SAG to assess a product for Secure by Design Best Practices</a:t>
            </a:r>
          </a:p>
          <a:p>
            <a:r>
              <a:rPr lang="en-US" dirty="0"/>
              <a:t>How can BEAD Implementers use NTCA and CISA Guidance</a:t>
            </a:r>
          </a:p>
          <a:p>
            <a:r>
              <a:rPr lang="en-US" dirty="0"/>
              <a:t>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F09DB-E670-1B45-D0F5-285094E9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65" y="1335742"/>
            <a:ext cx="4819499" cy="39607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ED5F7F-10C8-DB8B-390E-DB6C799B364E}"/>
              </a:ext>
            </a:extLst>
          </p:cNvPr>
          <p:cNvSpPr/>
          <p:nvPr/>
        </p:nvSpPr>
        <p:spPr>
          <a:xfrm>
            <a:off x="7324165" y="1640541"/>
            <a:ext cx="3899647" cy="242047"/>
          </a:xfrm>
          <a:prstGeom prst="rect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57A42-1E1D-B5C6-DF9A-727409B02A6D}"/>
              </a:ext>
            </a:extLst>
          </p:cNvPr>
          <p:cNvSpPr txBox="1"/>
          <p:nvPr/>
        </p:nvSpPr>
        <p:spPr>
          <a:xfrm>
            <a:off x="7790686" y="5421868"/>
            <a:ext cx="2594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BEAD Program Website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E3AC9-F31E-9503-2FFB-EEC53E3568C9}"/>
              </a:ext>
            </a:extLst>
          </p:cNvPr>
          <p:cNvSpPr txBox="1"/>
          <p:nvPr/>
        </p:nvSpPr>
        <p:spPr>
          <a:xfrm>
            <a:off x="6472518" y="579123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hlinkClick r:id="rId4"/>
              </a:rPr>
              <a:t>https://broadbandusa.ntia.gov/funding-programs/policies-waivers/BEAD_Restructuring_Policy_Notice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08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66FD-F3D3-1CD1-BB92-E9C669CE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BEAD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C209-3072-50E9-03D1-9D9DA11C9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$42.45 billion federal grant program that aims to connect every American to high-speed internet</a:t>
            </a:r>
          </a:p>
          <a:p>
            <a:r>
              <a:rPr lang="en-US" dirty="0"/>
              <a:t>States and territories can use their allocated funds for these eligible uses: 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Planning for the deployment of high-speed internet, including conducting research, collecting data, outreach, and training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Deploying or upgrading internet infrastructure in unserved or underserved areas, or improving service to community anchor institutions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Installing internet and Wi-Fi service in multi-unit residential buildings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Internet access, adoption and use programs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Workforce readiness programs to meet the needs of the infrastructure programs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Other activities that increase meaningful use of constructed infrastructure, at the discretion of the Assistant Secretary 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34D84-E54C-CC89-A55A-5DE49BA8F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252" y="1028127"/>
            <a:ext cx="366763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5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4304-3470-3DBB-B24C-32426768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Funding Plans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8DDBE-096C-D226-55FF-568B44CC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20" y="1690395"/>
            <a:ext cx="3648803" cy="4748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5FED5-C870-35B5-3FDE-4BD180046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716" y="1709058"/>
            <a:ext cx="3656945" cy="4729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639FF8-7764-EF34-40BD-8D6C29219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064" y="1666298"/>
            <a:ext cx="3686079" cy="477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12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D5DD-0AF9-9BCF-757C-66AC5D3E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83976"/>
            <a:ext cx="10131425" cy="783771"/>
          </a:xfrm>
        </p:spPr>
        <p:txBody>
          <a:bodyPr/>
          <a:lstStyle/>
          <a:p>
            <a:r>
              <a:rPr lang="en-US" dirty="0"/>
              <a:t>Sub-awardee FUNDING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086D-15BF-8876-7E31-2215221B3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82352"/>
            <a:ext cx="11257383" cy="5906277"/>
          </a:xfrm>
        </p:spPr>
        <p:txBody>
          <a:bodyPr>
            <a:normAutofit/>
          </a:bodyPr>
          <a:lstStyle/>
          <a:p>
            <a:r>
              <a:rPr lang="en-US" dirty="0"/>
              <a:t>Applicants must submit:</a:t>
            </a:r>
          </a:p>
          <a:p>
            <a:pPr lvl="1"/>
            <a:r>
              <a:rPr lang="en-US" dirty="0"/>
              <a:t>Technical design (fiber, fixed wireless, etc.)</a:t>
            </a:r>
          </a:p>
          <a:p>
            <a:pPr lvl="1"/>
            <a:r>
              <a:rPr lang="en-US" dirty="0"/>
              <a:t>Cost model &amp; budget</a:t>
            </a:r>
          </a:p>
          <a:p>
            <a:pPr lvl="1"/>
            <a:r>
              <a:rPr lang="en-US" dirty="0"/>
              <a:t>Matching funds documentation</a:t>
            </a:r>
          </a:p>
          <a:p>
            <a:pPr lvl="1"/>
            <a:r>
              <a:rPr lang="en-US" dirty="0"/>
              <a:t>Cybersecurity &amp; supply‑chain compliance plans</a:t>
            </a:r>
          </a:p>
          <a:p>
            <a:pPr lvl="1"/>
            <a:r>
              <a:rPr lang="en-US" dirty="0"/>
              <a:t>Workforce plan</a:t>
            </a:r>
          </a:p>
          <a:p>
            <a:pPr lvl="1"/>
            <a:r>
              <a:rPr lang="en-US" dirty="0"/>
              <a:t>Environmental &amp; permitting readiness</a:t>
            </a:r>
          </a:p>
          <a:p>
            <a:pPr lvl="1"/>
            <a:r>
              <a:rPr lang="en-US" dirty="0"/>
              <a:t>Affordability commitments</a:t>
            </a:r>
          </a:p>
          <a:p>
            <a:r>
              <a:rPr lang="en-US" dirty="0"/>
              <a:t>NTIA Special Award Condition (SAC) Review</a:t>
            </a:r>
          </a:p>
          <a:p>
            <a:pPr lvl="1"/>
            <a:r>
              <a:rPr lang="en-US" dirty="0"/>
              <a:t>Before funds flow, NTIA conducts a SAC meeting with the state to verify:</a:t>
            </a:r>
          </a:p>
          <a:p>
            <a:pPr lvl="1"/>
            <a:r>
              <a:rPr lang="en-US" dirty="0"/>
              <a:t>Compliance with BEAD rules </a:t>
            </a:r>
          </a:p>
          <a:p>
            <a:pPr lvl="1"/>
            <a:r>
              <a:rPr lang="en-US" dirty="0"/>
              <a:t>Subgrantee selection integrity </a:t>
            </a:r>
          </a:p>
          <a:p>
            <a:pPr lvl="1"/>
            <a:r>
              <a:rPr lang="en-US" dirty="0"/>
              <a:t>Cybersecurity &amp; supply‑chain requirements </a:t>
            </a:r>
          </a:p>
          <a:p>
            <a:pPr lvl="1"/>
            <a:r>
              <a:rPr lang="en-US" dirty="0"/>
              <a:t>Budget and match validation </a:t>
            </a:r>
          </a:p>
          <a:p>
            <a:pPr lvl="1"/>
            <a:r>
              <a:rPr lang="en-US" dirty="0"/>
              <a:t>Only after SAC approval can the state issue final awards.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775939AB-E757-00F9-9D72-717D85D5FC20}"/>
              </a:ext>
            </a:extLst>
          </p:cNvPr>
          <p:cNvSpPr/>
          <p:nvPr/>
        </p:nvSpPr>
        <p:spPr>
          <a:xfrm>
            <a:off x="5480920" y="2306056"/>
            <a:ext cx="2319467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Meeting Topic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63401B1-B8D5-BA2A-E1D3-6C4A01B80789}"/>
              </a:ext>
            </a:extLst>
          </p:cNvPr>
          <p:cNvSpPr/>
          <p:nvPr/>
        </p:nvSpPr>
        <p:spPr>
          <a:xfrm>
            <a:off x="5176121" y="5294965"/>
            <a:ext cx="2319467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Meeting Topic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15486-CE1C-BD16-EA2F-F4A0F3C73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876" y="1038815"/>
            <a:ext cx="4753638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0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726D-26F7-6597-06D7-0F8EFBB6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95" y="52010"/>
            <a:ext cx="10131425" cy="1456267"/>
          </a:xfrm>
        </p:spPr>
        <p:txBody>
          <a:bodyPr/>
          <a:lstStyle/>
          <a:p>
            <a:r>
              <a:rPr lang="en-US" dirty="0"/>
              <a:t>BEAD Cyber Plan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6FD1-7FF1-8200-D008-F6568FF5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08277"/>
            <a:ext cx="11098762" cy="497649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The Cybersecurity Risk Management Plan (CRMP)</a:t>
            </a:r>
          </a:p>
          <a:p>
            <a:r>
              <a:rPr lang="en-US" dirty="0"/>
              <a:t>A subgrantee must have a plan that is:</a:t>
            </a:r>
          </a:p>
          <a:p>
            <a:r>
              <a:rPr lang="en-US" b="1" dirty="0"/>
              <a:t>A. Operational or ready to be operationalized</a:t>
            </a:r>
            <a:endParaRPr lang="en-US" dirty="0"/>
          </a:p>
          <a:p>
            <a:pPr lvl="1"/>
            <a:r>
              <a:rPr lang="en-US" dirty="0"/>
              <a:t>This is the </a:t>
            </a:r>
            <a:r>
              <a:rPr lang="en-US" i="1" dirty="0"/>
              <a:t>single most important gating requirement</a:t>
            </a:r>
            <a:r>
              <a:rPr lang="en-US" dirty="0"/>
              <a:t>.</a:t>
            </a:r>
          </a:p>
          <a:p>
            <a:r>
              <a:rPr lang="en-US" b="1" dirty="0"/>
              <a:t>B. Aligned with the NIST Cybersecurity Framework (CSF)</a:t>
            </a:r>
            <a:endParaRPr lang="en-US" dirty="0"/>
          </a:p>
          <a:p>
            <a:pPr lvl="1"/>
            <a:r>
              <a:rPr lang="en-US" dirty="0"/>
              <a:t>Must reflect the </a:t>
            </a:r>
            <a:r>
              <a:rPr lang="en-US" b="1" dirty="0"/>
              <a:t>latest version</a:t>
            </a:r>
            <a:r>
              <a:rPr lang="en-US" dirty="0"/>
              <a:t> of the NIST CSF </a:t>
            </a:r>
          </a:p>
          <a:p>
            <a:pPr lvl="1"/>
            <a:r>
              <a:rPr lang="en-US" dirty="0"/>
              <a:t>This does </a:t>
            </a:r>
            <a:r>
              <a:rPr lang="en-US" b="1" dirty="0"/>
              <a:t>not</a:t>
            </a:r>
            <a:r>
              <a:rPr lang="en-US" dirty="0"/>
              <a:t> require full maturity or certification — only alignment.</a:t>
            </a:r>
          </a:p>
          <a:p>
            <a:r>
              <a:rPr lang="en-US" b="1" dirty="0"/>
              <a:t>C. Covers the CSF Core Functions</a:t>
            </a:r>
            <a:endParaRPr lang="en-US" dirty="0"/>
          </a:p>
          <a:p>
            <a:pPr lvl="1"/>
            <a:r>
              <a:rPr lang="en-US" dirty="0"/>
              <a:t>At minimum, the plan must address:</a:t>
            </a:r>
          </a:p>
          <a:p>
            <a:pPr lvl="1"/>
            <a:r>
              <a:rPr lang="en-US" sz="1500" b="1" dirty="0"/>
              <a:t>Governance</a:t>
            </a:r>
          </a:p>
          <a:p>
            <a:pPr lvl="1"/>
            <a:r>
              <a:rPr lang="en-US" b="1" dirty="0"/>
              <a:t>Identify</a:t>
            </a:r>
            <a:r>
              <a:rPr lang="en-US" dirty="0"/>
              <a:t> (assets, risks, roles, governance)</a:t>
            </a:r>
          </a:p>
          <a:p>
            <a:pPr lvl="1"/>
            <a:r>
              <a:rPr lang="en-US" b="1" dirty="0"/>
              <a:t>Protect</a:t>
            </a:r>
            <a:r>
              <a:rPr lang="en-US" dirty="0"/>
              <a:t> (access control, training, data security)</a:t>
            </a:r>
          </a:p>
          <a:p>
            <a:pPr lvl="1"/>
            <a:r>
              <a:rPr lang="en-US" b="1" dirty="0"/>
              <a:t>Detect</a:t>
            </a:r>
            <a:r>
              <a:rPr lang="en-US" dirty="0"/>
              <a:t> (anomalies, continuous monitoring)</a:t>
            </a:r>
          </a:p>
          <a:p>
            <a:pPr lvl="1"/>
            <a:r>
              <a:rPr lang="en-US" b="1" dirty="0"/>
              <a:t>Respond</a:t>
            </a:r>
            <a:r>
              <a:rPr lang="en-US" dirty="0"/>
              <a:t> (incident response processes)</a:t>
            </a:r>
          </a:p>
          <a:p>
            <a:pPr lvl="1"/>
            <a:r>
              <a:rPr lang="en-US" b="1" dirty="0"/>
              <a:t>Recover</a:t>
            </a:r>
            <a:r>
              <a:rPr lang="en-US" dirty="0"/>
              <a:t> (restoration, lessons learned)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5C24D-3E43-1F2E-3955-0B32FD91A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954" y="1861919"/>
            <a:ext cx="3572374" cy="313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7306BE-7F35-4ABA-1F5E-310760434921}"/>
              </a:ext>
            </a:extLst>
          </p:cNvPr>
          <p:cNvSpPr txBox="1"/>
          <p:nvPr/>
        </p:nvSpPr>
        <p:spPr>
          <a:xfrm>
            <a:off x="8059270" y="5172635"/>
            <a:ext cx="3680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CISA CPG V2 alignment available now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34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46CC-226D-1400-9FD1-FA1A0ECF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3266"/>
            <a:ext cx="10131425" cy="970383"/>
          </a:xfrm>
        </p:spPr>
        <p:txBody>
          <a:bodyPr/>
          <a:lstStyle/>
          <a:p>
            <a:r>
              <a:rPr lang="en-US" dirty="0"/>
              <a:t>BEAD SCRM Plan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E743-A437-0EFF-8622-67B87CB7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03649"/>
            <a:ext cx="10820398" cy="514116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Cyber Supply Chain Risk Management (C‑SCRM) Plan</a:t>
            </a:r>
            <a:endParaRPr lang="en-US" dirty="0"/>
          </a:p>
          <a:p>
            <a:r>
              <a:rPr lang="en-US" b="1" dirty="0"/>
              <a:t>Minimum Requirements</a:t>
            </a:r>
            <a:endParaRPr lang="en-US" dirty="0"/>
          </a:p>
          <a:p>
            <a:r>
              <a:rPr lang="en-US" dirty="0"/>
              <a:t>A subgrantee must have a plan that:</a:t>
            </a:r>
          </a:p>
          <a:p>
            <a:r>
              <a:rPr lang="en-US" b="1" dirty="0"/>
              <a:t>A. </a:t>
            </a:r>
            <a:r>
              <a:rPr lang="en-US" sz="2600" b="1" dirty="0"/>
              <a:t>Aligns with NIST 800‑161 and NISTIR 8276</a:t>
            </a:r>
            <a:endParaRPr lang="en-US" sz="2600" dirty="0"/>
          </a:p>
          <a:p>
            <a:pPr lvl="1"/>
            <a:r>
              <a:rPr lang="en-US" dirty="0"/>
              <a:t>NTIA explicitly points implementers to these documents as the baseline for SCRM.</a:t>
            </a:r>
          </a:p>
          <a:p>
            <a:r>
              <a:rPr lang="en-US" b="1" dirty="0"/>
              <a:t>B. </a:t>
            </a:r>
            <a:r>
              <a:rPr lang="en-US" sz="2600" b="1" dirty="0"/>
              <a:t>Addresses vendor and component (product) risk</a:t>
            </a:r>
            <a:endParaRPr lang="en-US" sz="2600" dirty="0"/>
          </a:p>
          <a:p>
            <a:r>
              <a:rPr lang="en-US" dirty="0"/>
              <a:t>At minimum:</a:t>
            </a:r>
          </a:p>
          <a:p>
            <a:pPr lvl="1"/>
            <a:r>
              <a:rPr lang="en-US" dirty="0"/>
              <a:t>Identification of suppliers</a:t>
            </a:r>
          </a:p>
          <a:p>
            <a:pPr lvl="1"/>
            <a:r>
              <a:rPr lang="en-US" dirty="0"/>
              <a:t>Vetting of vendors</a:t>
            </a:r>
          </a:p>
          <a:p>
            <a:pPr lvl="1"/>
            <a:r>
              <a:rPr lang="en-US" dirty="0"/>
              <a:t>Controls for product procurement</a:t>
            </a:r>
          </a:p>
          <a:p>
            <a:pPr lvl="1"/>
            <a:r>
              <a:rPr lang="en-US" dirty="0"/>
              <a:t>Handling of foreign‑manufactured equipment risks</a:t>
            </a:r>
          </a:p>
          <a:p>
            <a:pPr lvl="1"/>
            <a:r>
              <a:rPr lang="en-US" dirty="0"/>
              <a:t>Processes for monitoring supplier and product vulnerabilities</a:t>
            </a:r>
          </a:p>
          <a:p>
            <a:r>
              <a:rPr lang="en-US" b="1" dirty="0"/>
              <a:t>C. Is operational or ready to operationalize</a:t>
            </a:r>
            <a:endParaRPr lang="en-US" dirty="0"/>
          </a:p>
          <a:p>
            <a:pPr lvl="1"/>
            <a:r>
              <a:rPr lang="en-US" dirty="0"/>
              <a:t>Same gating rule as the cybersecurity plan.</a:t>
            </a:r>
          </a:p>
          <a:p>
            <a:endParaRPr lang="en-US" dirty="0"/>
          </a:p>
        </p:txBody>
      </p:sp>
      <p:sp>
        <p:nvSpPr>
          <p:cNvPr id="4" name="AutoShape 2" descr="CSRC Logo">
            <a:extLst>
              <a:ext uri="{FF2B5EF4-FFF2-40B4-BE49-F238E27FC236}">
                <a16:creationId xmlns:a16="http://schemas.microsoft.com/office/drawing/2014/main" id="{2767F8B0-3121-7304-FA74-5D585473A6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DFB801-866F-FC73-DE4F-9C9D6C8A6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875" y="2174032"/>
            <a:ext cx="3054067" cy="394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11D628-FDE6-D796-B71B-337644692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115" y="428863"/>
            <a:ext cx="3829585" cy="14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6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9E58-D3F5-4777-BF3C-9B5A3111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83976"/>
            <a:ext cx="10131425" cy="765111"/>
          </a:xfrm>
        </p:spPr>
        <p:txBody>
          <a:bodyPr>
            <a:normAutofit/>
          </a:bodyPr>
          <a:lstStyle/>
          <a:p>
            <a:r>
              <a:rPr lang="en-US" dirty="0"/>
              <a:t>Guidance FOR BEAD IMPLEMENTERS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7BDAA-9DAC-B75A-0237-E4F438E4A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37127"/>
            <a:ext cx="10958803" cy="6204856"/>
          </a:xfrm>
        </p:spPr>
        <p:txBody>
          <a:bodyPr>
            <a:normAutofit fontScale="77500" lnSpcReduction="20000"/>
          </a:bodyPr>
          <a:lstStyle/>
          <a:p>
            <a:r>
              <a:rPr lang="en-US" sz="2500" u="sng" dirty="0"/>
              <a:t>BEAD Cybersecurity Requirements</a:t>
            </a:r>
            <a:r>
              <a:rPr lang="en-US" sz="2500" dirty="0"/>
              <a:t>:</a:t>
            </a:r>
          </a:p>
          <a:p>
            <a:r>
              <a:rPr lang="en-US" sz="2500" u="sng" dirty="0">
                <a:hlinkClick r:id="rId2"/>
              </a:rPr>
              <a:t>https://broadbandusa.ntia.doc.gov/sites/default/files/2022-05/BEAD%20NOFO.pdf</a:t>
            </a:r>
            <a:r>
              <a:rPr lang="en-US" sz="2500" dirty="0"/>
              <a:t> (p. 70)</a:t>
            </a:r>
          </a:p>
          <a:p>
            <a:r>
              <a:rPr lang="en-US" sz="2500" dirty="0"/>
              <a:t>1. Cybersecurity and supply chain risk management plans (the ICT SCRM Task Force created this guide from small businesses:  </a:t>
            </a:r>
            <a:r>
              <a:rPr lang="en-US" sz="2500" u="sng" dirty="0">
                <a:hlinkClick r:id="rId3"/>
              </a:rPr>
              <a:t>https://www.cisa.gov/sites/default/files/2023-10/Empowering%20SMBs%20-%20A%20Resource%20Guide%20For%20Developing%20A%20Resilient%20SCRM%20Plan_508_0.pdf</a:t>
            </a:r>
            <a:r>
              <a:rPr lang="en-US" sz="2500" dirty="0"/>
              <a:t>) </a:t>
            </a:r>
          </a:p>
          <a:p>
            <a:r>
              <a:rPr lang="en-US" sz="2500" dirty="0"/>
              <a:t>a. NIST Framework for Improving Critical Infrastructure Cybersecurity</a:t>
            </a:r>
            <a:r>
              <a:rPr lang="en-US" sz="2500" u="sng" baseline="30000" dirty="0">
                <a:hlinkClick r:id="rId4" action="ppaction://hlinkfile"/>
              </a:rPr>
              <a:t>[1]</a:t>
            </a:r>
            <a:r>
              <a:rPr lang="en-US" sz="2500" dirty="0"/>
              <a:t> (this </a:t>
            </a:r>
            <a:r>
              <a:rPr lang="en-US" sz="2500" u="sng" dirty="0">
                <a:hlinkClick r:id="rId5"/>
              </a:rPr>
              <a:t>Quick Start Guide for small businesses</a:t>
            </a:r>
            <a:r>
              <a:rPr lang="en-US" sz="2500" dirty="0"/>
              <a:t> outlines the basics really well) </a:t>
            </a:r>
          </a:p>
          <a:p>
            <a:r>
              <a:rPr lang="en-US" sz="2500" dirty="0"/>
              <a:t>b. Security and privacy controls being implemented from </a:t>
            </a:r>
            <a:r>
              <a:rPr lang="en-US" sz="2500" u="sng" dirty="0">
                <a:hlinkClick r:id="rId6"/>
              </a:rPr>
              <a:t>Executive Order 14028</a:t>
            </a:r>
            <a:r>
              <a:rPr lang="en-US" sz="2500" dirty="0"/>
              <a:t> </a:t>
            </a:r>
          </a:p>
          <a:p>
            <a:r>
              <a:rPr lang="en-US" sz="2500" dirty="0"/>
              <a:t>c. </a:t>
            </a:r>
            <a:r>
              <a:rPr lang="en-US" sz="2500" u="sng" dirty="0">
                <a:hlinkClick r:id="rId7"/>
              </a:rPr>
              <a:t>NISTIR 8276, Key Practices in Cyber Supply Chain Risk Management: Observations from Industry</a:t>
            </a:r>
            <a:r>
              <a:rPr lang="en-US" sz="2500" u="sng" dirty="0"/>
              <a:t> </a:t>
            </a:r>
            <a:endParaRPr lang="en-US" sz="2500" dirty="0"/>
          </a:p>
          <a:p>
            <a:r>
              <a:rPr lang="en-US" sz="2500" dirty="0"/>
              <a:t>d. Supply chain risk management controls being implemented from </a:t>
            </a:r>
            <a:r>
              <a:rPr lang="en-US" sz="2500" u="sng" dirty="0">
                <a:hlinkClick r:id="rId8"/>
              </a:rPr>
              <a:t>NIST 800-161, Cybersecurity Supply Chain Risk Management Practices for Systems and Organizations</a:t>
            </a:r>
            <a:r>
              <a:rPr lang="en-US" sz="2500" dirty="0"/>
              <a:t> </a:t>
            </a:r>
          </a:p>
          <a:p>
            <a:r>
              <a:rPr lang="en-US" sz="2500" dirty="0"/>
              <a:t>2. The plans must be submitted to the Eligible Entity prior to the allocation of funds. </a:t>
            </a:r>
          </a:p>
          <a:p>
            <a:r>
              <a:rPr lang="en-US" sz="2500" dirty="0"/>
              <a:t>3. BEAD providers must reevaluate and update the plans on a periodic basis and as events warrant; </a:t>
            </a:r>
          </a:p>
          <a:p>
            <a:r>
              <a:rPr lang="en-US" sz="2500" dirty="0"/>
              <a:t>4. If the BEAD provider makes any substantive changes to the plan(s), a new version will be submitted to the Eligible Entity within 30 days. </a:t>
            </a:r>
          </a:p>
          <a:p>
            <a:r>
              <a:rPr lang="en-US" sz="2500" dirty="0"/>
              <a:t>5. If network facilities are owned or operated by a third party (e.g., purchases wholesale carriage on such facilities), the BEAD provider must obtain the above attestations from its network provider.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20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FB63-5F55-0301-8283-0A1C0647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BEB7A-AC44-FF54-FD54-5169E1C31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75452"/>
            <a:ext cx="10131425" cy="13218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Reach out to your State Broadband Administrators (Look on the BEAD Website for State Contact Info)</a:t>
            </a:r>
          </a:p>
          <a:p>
            <a:r>
              <a:rPr lang="en-US" dirty="0">
                <a:hlinkClick r:id="rId2"/>
              </a:rPr>
              <a:t>https://broadbandusa.ntia.gov/resources/states</a:t>
            </a:r>
            <a:r>
              <a:rPr lang="en-US" dirty="0"/>
              <a:t>  </a:t>
            </a:r>
          </a:p>
          <a:p>
            <a:r>
              <a:rPr lang="en-US" dirty="0"/>
              <a:t>BEAD Website </a:t>
            </a:r>
            <a:r>
              <a:rPr lang="en-US" dirty="0">
                <a:hlinkClick r:id="rId3"/>
              </a:rPr>
              <a:t>https://broadbandusa.ntia.gov/funding-programs/broadband-equity-access-and-deployment-bead-program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26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35BA-DB37-6939-0229-4D5A7C8D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02638"/>
            <a:ext cx="10131425" cy="1101012"/>
          </a:xfrm>
        </p:spPr>
        <p:txBody>
          <a:bodyPr>
            <a:normAutofit/>
          </a:bodyPr>
          <a:lstStyle/>
          <a:p>
            <a:r>
              <a:rPr lang="en-US" dirty="0"/>
              <a:t>How can CISA resources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CDBEF-CBCB-AC59-C67D-DFF9832B1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518586"/>
            <a:ext cx="10912150" cy="433337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CISA created several useful guides to help parties implement effective cyber and C-SCRM  best practices for BEAD</a:t>
            </a:r>
          </a:p>
          <a:p>
            <a:r>
              <a:rPr lang="en-US" dirty="0"/>
              <a:t>Cybersecurity and supply chain risk management plans (the ICT SCRM Task Force created this guide from small businesses:  </a:t>
            </a:r>
            <a:r>
              <a:rPr lang="en-US" u="sng" dirty="0">
                <a:hlinkClick r:id="rId2"/>
              </a:rPr>
              <a:t>https://www.cisa.gov/sites/default/files/2023-10/Empowering%20SMBs%20-%20A%20Resource%20Guide%20For%20Developing%20A%20Resilient%20SCRM%20Plan_508_0.pdf</a:t>
            </a:r>
            <a:r>
              <a:rPr lang="en-US" dirty="0"/>
              <a:t>) </a:t>
            </a:r>
          </a:p>
          <a:p>
            <a:r>
              <a:rPr lang="en-US" dirty="0"/>
              <a:t>CISA Secure by Design Software Acquisition Guide (SAG) (covered in next section)</a:t>
            </a:r>
          </a:p>
          <a:p>
            <a:pPr lvl="1"/>
            <a:r>
              <a:rPr lang="en-US" dirty="0"/>
              <a:t>CISA SAG Website </a:t>
            </a:r>
            <a:r>
              <a:rPr lang="en-US" dirty="0">
                <a:hlinkClick r:id="rId3"/>
              </a:rPr>
              <a:t>https://cisa.gov/sag</a:t>
            </a:r>
            <a:endParaRPr lang="en-US" dirty="0"/>
          </a:p>
          <a:p>
            <a:pPr lvl="1"/>
            <a:r>
              <a:rPr lang="en-US" dirty="0"/>
              <a:t>SAG Document: </a:t>
            </a:r>
            <a:r>
              <a:rPr lang="en-US" dirty="0">
                <a:hlinkClick r:id="rId4"/>
              </a:rPr>
              <a:t>https://www.cisa.gov/sites/default/files/2024-07/PDM24050%20Software%20Acquisition%20Guide%20for%20Government%20Enterprise%20ConsumersV2_508c.pdf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Spreadsheet: </a:t>
            </a:r>
            <a:r>
              <a:rPr lang="en-US" dirty="0">
                <a:hlinkClick r:id="rId5"/>
              </a:rPr>
              <a:t>https://www.cisa.gov/sites/default/files/2024-08/PDM24064%20Software%20Acquisition%20Guide%20for%20Government%20Enterprise%20Consumers%20Final-%2020240710_v19.xlsx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FACT Sheet: </a:t>
            </a:r>
            <a:r>
              <a:rPr lang="en-US" dirty="0">
                <a:hlinkClick r:id="rId6"/>
              </a:rPr>
              <a:t>https://www.cisa.gov/sites/default/files/2024-10/ICT%20SCRM%20Task%20Force%20Software%20Acquisition%20Guide%20Fact%20Sheet%20%28508%29.pdf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Webtool Self Assessment: </a:t>
            </a:r>
            <a:r>
              <a:rPr lang="en-US" dirty="0">
                <a:hlinkClick r:id="rId7"/>
              </a:rPr>
              <a:t>https://www.cisa.gov/software-acquisition-guide/tool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Overview Webinars: </a:t>
            </a:r>
            <a:r>
              <a:rPr lang="en-US" dirty="0">
                <a:hlinkClick r:id="rId8"/>
              </a:rPr>
              <a:t>https://www.youtube.com/watch?v=_RzQMXE4Df0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1D00DE-FE2B-163B-1FC4-67B11C800A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3387" y="233077"/>
            <a:ext cx="1667108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1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2108-EEB7-6D3A-29F8-79B167B7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CISA Software acquisition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F86F-3DBE-283C-A01E-69FBD96EE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517775" cy="364913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 Aligns with CISA Secure by Design principles but focuses on the “Secure by Demand” elements.</a:t>
            </a:r>
          </a:p>
          <a:p>
            <a:r>
              <a:rPr lang="en-US" dirty="0"/>
              <a:t>Identifies Secure by Design best practices across the entire software life cycle, based on NIST standards</a:t>
            </a:r>
          </a:p>
          <a:p>
            <a:r>
              <a:rPr lang="en-US" dirty="0"/>
              <a:t>Enables acquisition professionals to engage in more relevant discussions with their enterprise risk owners (such as Chief Information Officers and Chief Information Security Officers) and candidate suppliers</a:t>
            </a:r>
          </a:p>
          <a:p>
            <a:r>
              <a:rPr lang="en-US" dirty="0"/>
              <a:t>A virtual “Secure by Design” checklist for consumers and producers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80D8F-FE21-F030-5215-C5EB20416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18" y="2065867"/>
            <a:ext cx="4929320" cy="3649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0A949C-6B49-EF66-22F0-D387C5B66781}"/>
              </a:ext>
            </a:extLst>
          </p:cNvPr>
          <p:cNvSpPr txBox="1"/>
          <p:nvPr/>
        </p:nvSpPr>
        <p:spPr>
          <a:xfrm>
            <a:off x="7584141" y="5791200"/>
            <a:ext cx="3103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View the CISA NASPO Webinar </a:t>
            </a:r>
          </a:p>
          <a:p>
            <a:r>
              <a:rPr lang="en-US" dirty="0">
                <a:hlinkClick r:id="rId3"/>
              </a:rPr>
              <a:t>for a comprehensive overview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23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59BAD-08CF-08D7-282F-B79328A6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1" y="609600"/>
            <a:ext cx="11866961" cy="556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13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047F-5EAC-812D-4449-2129691F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created the SAG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0E7A-8C65-9D3B-9053-0C7B6A7E2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5239870" cy="36491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CISA ICT_SCRM Task Force (CIPAC partnership)</a:t>
            </a:r>
          </a:p>
          <a:p>
            <a:r>
              <a:rPr lang="en-US" dirty="0"/>
              <a:t>CISA National Risk Management Center</a:t>
            </a:r>
          </a:p>
          <a:p>
            <a:r>
              <a:rPr lang="en-US" dirty="0"/>
              <a:t>Core group of ~30 people working on the  SAG document</a:t>
            </a:r>
          </a:p>
          <a:p>
            <a:r>
              <a:rPr lang="en-US" dirty="0"/>
              <a:t>Mostly from Government Agencies (NASA, GSA, CISA, NSA) and Private Sector </a:t>
            </a:r>
            <a:r>
              <a:rPr lang="en-US" dirty="0">
                <a:hlinkClick r:id="rId2"/>
              </a:rPr>
              <a:t>https://www.cisa.gov/ict-scrm-task-force-members</a:t>
            </a:r>
            <a:r>
              <a:rPr lang="en-US" dirty="0"/>
              <a:t> </a:t>
            </a:r>
          </a:p>
          <a:p>
            <a:r>
              <a:rPr lang="en-US" dirty="0"/>
              <a:t>Led and facilitated by CISA personnel over two years</a:t>
            </a:r>
          </a:p>
          <a:p>
            <a:r>
              <a:rPr lang="en-US" dirty="0"/>
              <a:t>Visionary leadership provided by an expert with decades of experience in software assurance, Joe Jarzombek, </a:t>
            </a:r>
            <a:r>
              <a:rPr lang="en-US" dirty="0">
                <a:hlinkClick r:id="rId3"/>
              </a:rPr>
              <a:t>https://copilot.microsoft.com/shares/QLhY366t3XSbYmfegpXEa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2F443-0DDE-75CD-537E-7728BCB97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380" y="2065867"/>
            <a:ext cx="2838846" cy="600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7DD4EF-8DEE-876F-FB66-1F23620E5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353" y="3088341"/>
            <a:ext cx="6096000" cy="127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87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9684-9F91-919C-6B11-69DF5DD0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by Design, Default, </a:t>
            </a:r>
            <a:r>
              <a:rPr lang="en-US" dirty="0" err="1"/>
              <a:t>DEmand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EB5A8-13B6-B6B4-5E66-2222D5A3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675" y="1788411"/>
            <a:ext cx="5487166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6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3517-6A34-2DCF-3FE3-BDA80D74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Product Manufacturers use the SAG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D27D-EEF3-052A-D231-52BFED5C4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Self Assessment of adherence to Secure by Design best practices in the SAG</a:t>
            </a:r>
          </a:p>
          <a:p>
            <a:r>
              <a:rPr lang="en-US" dirty="0"/>
              <a:t>Perform self assessment before submitting a product to the US Government for procurement</a:t>
            </a:r>
          </a:p>
          <a:p>
            <a:r>
              <a:rPr lang="en-US" dirty="0"/>
              <a:t>Answer the 19 Governance Questions, at a minimum</a:t>
            </a:r>
          </a:p>
          <a:p>
            <a:r>
              <a:rPr lang="en-US" dirty="0"/>
              <a:t>Address any “red flags” where lack of adherence to Secure by Design could block a product from being purchased</a:t>
            </a:r>
          </a:p>
          <a:p>
            <a:r>
              <a:rPr lang="en-US" dirty="0"/>
              <a:t>Create SAG Spreadsheet once and send to everyone that asks to show your Secure by Design practices</a:t>
            </a:r>
          </a:p>
          <a:p>
            <a:r>
              <a:rPr lang="en-US" dirty="0"/>
              <a:t>Track Secure by Design practices per product</a:t>
            </a:r>
          </a:p>
        </p:txBody>
      </p:sp>
    </p:spTree>
    <p:extLst>
      <p:ext uri="{BB962C8B-B14F-4D97-AF65-F5344CB8AC3E}">
        <p14:creationId xmlns:p14="http://schemas.microsoft.com/office/powerpoint/2010/main" val="2931975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F99F-A024-CFA6-ECD8-125C969B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Consumers use the CISA SAG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C5C5-5DD2-791F-AF33-285AC60FD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 a product and supplier for adherence to Secure by Design best practices</a:t>
            </a:r>
          </a:p>
          <a:p>
            <a:r>
              <a:rPr lang="en-US" dirty="0"/>
              <a:t>Five step process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Download the </a:t>
            </a:r>
            <a:r>
              <a:rPr lang="en-US" dirty="0">
                <a:hlinkClick r:id="rId2"/>
              </a:rPr>
              <a:t>CISA SAG Spreadsheet 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Send the spreadsheet to your suppliers with a cover letter asking them to answer the 19 governance questions, at a minimum and return the completed spreadsheet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Place the completed SAG Spreadsheets received in a permanent location for later review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Evaluate each returned spreadsheet and decide if the provided responses are acceptable within your risk threshold and tolerance – </a:t>
            </a:r>
            <a:r>
              <a:rPr lang="en-US" dirty="0">
                <a:hlinkClick r:id="rId3"/>
              </a:rPr>
              <a:t>open source, free to use tools are available for this step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Keep a history of each analysis in a “log” with PASS/FAIL results – see open source tool above</a:t>
            </a:r>
          </a:p>
        </p:txBody>
      </p:sp>
    </p:spTree>
    <p:extLst>
      <p:ext uri="{BB962C8B-B14F-4D97-AF65-F5344CB8AC3E}">
        <p14:creationId xmlns:p14="http://schemas.microsoft.com/office/powerpoint/2010/main" val="1617937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49E0-1847-3180-C9F9-665CAE63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27529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E2AEE-62C6-2127-9663-F6A098A1F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952" y="1353029"/>
            <a:ext cx="9543451" cy="41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69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4188-6A12-E86A-A7B4-BA6C51FC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744070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DFFFC-0E6E-0685-8769-97C3864DF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690277"/>
            <a:ext cx="10725538" cy="579248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BEAD Resources</a:t>
            </a:r>
          </a:p>
          <a:p>
            <a:pPr lvl="1"/>
            <a:r>
              <a:rPr lang="en-US" dirty="0">
                <a:hlinkClick r:id="rId2"/>
              </a:rPr>
              <a:t>https://broadbandusa.ntia.gov/sites/default/files/2022-05/BEAD%20NOFO.pdf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BEAD Website </a:t>
            </a:r>
            <a:r>
              <a:rPr lang="en-US" dirty="0">
                <a:hlinkClick r:id="rId3"/>
              </a:rPr>
              <a:t>https://broadbandusa.ntia.gov/funding-programs/broadband-equity-access-and-deployment-bead-program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BEAD Restructuring Policy Notice </a:t>
            </a:r>
            <a:r>
              <a:rPr lang="en-US" b="1" dirty="0">
                <a:hlinkClick r:id="rId4"/>
              </a:rPr>
              <a:t>https://broadbandusa.ntia.gov/funding-programs/policies-waivers/BEAD_Restructuring_Policy_Notice</a:t>
            </a:r>
            <a:r>
              <a:rPr lang="en-US" b="1" dirty="0"/>
              <a:t> </a:t>
            </a:r>
          </a:p>
          <a:p>
            <a:pPr lvl="1"/>
            <a:r>
              <a:rPr lang="en-US" dirty="0">
                <a:hlinkClick r:id="rId5"/>
              </a:rPr>
              <a:t>https://www.ntia.gov/press-release/2026/statement-assistant-secretary-roth-ntia-s-approach-use-21-billion-bead-savings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State BEAD Administrators: </a:t>
            </a:r>
            <a:r>
              <a:rPr lang="en-US" dirty="0">
                <a:hlinkClick r:id="rId6"/>
              </a:rPr>
              <a:t>https://broadbandusa.ntia.gov/resources/states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NIST CSF V2.0 Guidance: </a:t>
            </a:r>
            <a:r>
              <a:rPr lang="en-US" dirty="0">
                <a:hlinkClick r:id="rId7"/>
              </a:rPr>
              <a:t>https://www.nist.gov/cyberframework</a:t>
            </a:r>
            <a:r>
              <a:rPr lang="en-US" dirty="0"/>
              <a:t> </a:t>
            </a:r>
          </a:p>
          <a:p>
            <a:r>
              <a:rPr lang="en-US" dirty="0"/>
              <a:t>NTCA Resources</a:t>
            </a:r>
          </a:p>
          <a:p>
            <a:pPr lvl="1"/>
            <a:r>
              <a:rPr lang="en-US" dirty="0">
                <a:hlinkClick r:id="rId8"/>
              </a:rPr>
              <a:t>https://www.ntca.org/advocacy/issues/cybersecurity</a:t>
            </a:r>
            <a:r>
              <a:rPr lang="en-US" dirty="0"/>
              <a:t> </a:t>
            </a:r>
          </a:p>
          <a:p>
            <a:r>
              <a:rPr lang="en-US" dirty="0"/>
              <a:t>NASA SCRM Process Documentation</a:t>
            </a:r>
          </a:p>
          <a:p>
            <a:pPr lvl="1"/>
            <a:r>
              <a:rPr lang="en-US" dirty="0">
                <a:hlinkClick r:id="rId9"/>
              </a:rPr>
              <a:t>https://www.nasa.gov/secure-software-development-self-attestation-resources-and-knowledge/</a:t>
            </a:r>
            <a:r>
              <a:rPr lang="en-US" dirty="0"/>
              <a:t> </a:t>
            </a:r>
          </a:p>
          <a:p>
            <a:r>
              <a:rPr lang="en-US" dirty="0"/>
              <a:t>CISA SAG Videos</a:t>
            </a:r>
          </a:p>
          <a:p>
            <a:pPr lvl="1"/>
            <a:r>
              <a:rPr lang="en-US" dirty="0"/>
              <a:t>NASPO Webinar: </a:t>
            </a:r>
            <a:r>
              <a:rPr lang="en-US" dirty="0">
                <a:hlinkClick r:id="rId10"/>
              </a:rPr>
              <a:t>https://www.youtube.com/watch?v=_RzQMXE4Df0</a:t>
            </a:r>
            <a:endParaRPr lang="en-US" dirty="0"/>
          </a:p>
          <a:p>
            <a:pPr lvl="1"/>
            <a:r>
              <a:rPr lang="en-US" dirty="0"/>
              <a:t>Tom Fanning Keynote: </a:t>
            </a:r>
            <a:r>
              <a:rPr lang="en-US" dirty="0">
                <a:hlinkClick r:id="rId11"/>
              </a:rPr>
              <a:t>https://www.youtube.com/watch?v=0iYITlQfi3A</a:t>
            </a:r>
            <a:r>
              <a:rPr lang="en-US" dirty="0"/>
              <a:t> </a:t>
            </a:r>
          </a:p>
          <a:p>
            <a:r>
              <a:rPr lang="en-US" dirty="0"/>
              <a:t>CISA Free Services and Open Source Tools</a:t>
            </a:r>
          </a:p>
          <a:p>
            <a:pPr lvl="1"/>
            <a:r>
              <a:rPr lang="en-US" dirty="0">
                <a:hlinkClick r:id="rId12"/>
              </a:rPr>
              <a:t>https://www.cisa.gov/resources-tools/resources/no-cost-cybersecurity-services-and-tools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13"/>
              </a:rPr>
              <a:t>https://github.com/rjb4standards/CISASAGReader/blob/main/README.md</a:t>
            </a:r>
            <a:r>
              <a:rPr lang="en-US" dirty="0"/>
              <a:t>  </a:t>
            </a:r>
          </a:p>
          <a:p>
            <a:pPr lvl="1"/>
            <a:r>
              <a:rPr lang="en-US" dirty="0">
                <a:hlinkClick r:id="rId14"/>
              </a:rPr>
              <a:t>https://www.cisa.gov/cybersecurity-performance-goals-2-0-cpg-2-0</a:t>
            </a:r>
            <a:r>
              <a:rPr lang="en-US" dirty="0"/>
              <a:t> </a:t>
            </a:r>
          </a:p>
          <a:p>
            <a:r>
              <a:rPr lang="en-US" dirty="0"/>
              <a:t>CISA SAG Website</a:t>
            </a:r>
          </a:p>
          <a:p>
            <a:pPr lvl="1"/>
            <a:r>
              <a:rPr lang="en-US" dirty="0">
                <a:hlinkClick r:id="rId15"/>
              </a:rPr>
              <a:t>https://cisa.gov/sag</a:t>
            </a:r>
            <a:endParaRPr lang="en-US" dirty="0"/>
          </a:p>
          <a:p>
            <a:pPr lvl="1"/>
            <a:r>
              <a:rPr lang="en-US" dirty="0"/>
              <a:t>SAG Document: </a:t>
            </a:r>
            <a:r>
              <a:rPr lang="en-US" dirty="0">
                <a:hlinkClick r:id="rId16"/>
              </a:rPr>
              <a:t>https://www.cisa.gov/sites/default/files/2024-07/PDM24050%20Software%20Acquisition%20Guide%20for%20Government%20Enterprise%20ConsumersV2_508c.pdf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Spreadsheet: </a:t>
            </a:r>
            <a:r>
              <a:rPr lang="en-US" dirty="0">
                <a:hlinkClick r:id="rId17"/>
              </a:rPr>
              <a:t>https://www.cisa.gov/sites/default/files/2024-08/PDM24064%20Software%20Acquisition%20Guide%20for%20Government%20Enterprise%20Consumers%20Final-%2020240710_v19.xlsx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FACT Sheet: </a:t>
            </a:r>
            <a:r>
              <a:rPr lang="en-US" dirty="0">
                <a:hlinkClick r:id="rId18"/>
              </a:rPr>
              <a:t>https://www.cisa.gov/sites/default/files/2024-10/ICT%20SCRM%20Task%20Force%20Software%20Acquisition%20Guide%20Fact%20Sheet%20%28508%29.pdf</a:t>
            </a:r>
            <a:r>
              <a:rPr lang="en-US" dirty="0"/>
              <a:t> </a:t>
            </a:r>
          </a:p>
          <a:p>
            <a:r>
              <a:rPr lang="en-US" dirty="0"/>
              <a:t>LinkedIn SBOM SIG; Global Community of SBOM Implementers</a:t>
            </a:r>
          </a:p>
          <a:p>
            <a:pPr lvl="1"/>
            <a:r>
              <a:rPr lang="en-US" dirty="0">
                <a:hlinkClick r:id="rId19"/>
              </a:rPr>
              <a:t>https://www.linkedin.com/groups/13274064/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8450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FF353A-F2AB-4A4E-2E81-F52D5EA51AA8}"/>
              </a:ext>
            </a:extLst>
          </p:cNvPr>
          <p:cNvSpPr txBox="1"/>
          <p:nvPr/>
        </p:nvSpPr>
        <p:spPr>
          <a:xfrm>
            <a:off x="4000694" y="3056965"/>
            <a:ext cx="36548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Thank you for your time</a:t>
            </a:r>
          </a:p>
          <a:p>
            <a:pPr algn="ctr"/>
            <a:r>
              <a:rPr lang="en-US" dirty="0"/>
              <a:t>Dick Brooks</a:t>
            </a:r>
          </a:p>
          <a:p>
            <a:pPr algn="ctr"/>
            <a:r>
              <a:rPr lang="en-US" dirty="0">
                <a:hlinkClick r:id="rId2"/>
              </a:rPr>
              <a:t>dick@businesscyberguardian.com</a:t>
            </a:r>
            <a:endParaRPr lang="en-US" dirty="0"/>
          </a:p>
          <a:p>
            <a:pPr algn="ctr"/>
            <a:r>
              <a:rPr lang="en-US" dirty="0">
                <a:hlinkClick r:id="rId3"/>
              </a:rPr>
              <a:t>https://businesscyberguardian.com/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7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G-Celestial-Background" id="{FA05001E-2570-4C8F-AC7E-06ED5E64A348}" vid="{858A18C7-8BC5-451B-B293-373C092A2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BCG-Celestial-Background</Template>
  <TotalTime>432</TotalTime>
  <Words>1915</Words>
  <Application>Microsoft Office PowerPoint</Application>
  <PresentationFormat>Widescreen</PresentationFormat>
  <Paragraphs>164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Celestial</vt:lpstr>
      <vt:lpstr>Bead funding cyber plan requirements /  CISA Secure by Design Software Acquisition Guide (SAG) </vt:lpstr>
      <vt:lpstr>Topics</vt:lpstr>
      <vt:lpstr>What is THE BEAD PROGRAM</vt:lpstr>
      <vt:lpstr>State Funding Plans</vt:lpstr>
      <vt:lpstr>Sub-awardee FUNDING process</vt:lpstr>
      <vt:lpstr>BEAD Cyber Plan Requirements</vt:lpstr>
      <vt:lpstr>BEAD SCRM Plan Requirements</vt:lpstr>
      <vt:lpstr>Guidance FOR BEAD IMPLEMENTERS</vt:lpstr>
      <vt:lpstr>Need Help</vt:lpstr>
      <vt:lpstr>How can CISA resources HELP</vt:lpstr>
      <vt:lpstr>What is the CISA Software acquisition guide</vt:lpstr>
      <vt:lpstr>PowerPoint Presentation</vt:lpstr>
      <vt:lpstr>Who created the SAG materials</vt:lpstr>
      <vt:lpstr>Secure by Design, Default, DEmand</vt:lpstr>
      <vt:lpstr>How do Product Manufacturers use the SAG</vt:lpstr>
      <vt:lpstr>How do Consumers use the CISA SAG</vt:lpstr>
      <vt:lpstr>Popularity</vt:lpstr>
      <vt:lpstr>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 Brooks</dc:creator>
  <cp:lastModifiedBy>Dick Brooks</cp:lastModifiedBy>
  <cp:revision>87</cp:revision>
  <dcterms:created xsi:type="dcterms:W3CDTF">2026-01-09T15:56:27Z</dcterms:created>
  <dcterms:modified xsi:type="dcterms:W3CDTF">2026-03-20T16:35:08Z</dcterms:modified>
</cp:coreProperties>
</file>