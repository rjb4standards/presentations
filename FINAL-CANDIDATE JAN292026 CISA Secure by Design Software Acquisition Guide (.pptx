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4" r:id="rId5"/>
    <p:sldId id="259" r:id="rId6"/>
    <p:sldId id="263" r:id="rId7"/>
    <p:sldId id="260" r:id="rId8"/>
    <p:sldId id="261" r:id="rId9"/>
    <p:sldId id="265" r:id="rId10"/>
    <p:sldId id="262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97D520-8FCF-FE38-F137-57E669D09CE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58562" y="55079"/>
            <a:ext cx="3246539" cy="16883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398A074-15A3-86FD-43A8-D67E08B081DF}"/>
              </a:ext>
            </a:extLst>
          </p:cNvPr>
          <p:cNvSpPr txBox="1"/>
          <p:nvPr userDrawn="1"/>
        </p:nvSpPr>
        <p:spPr>
          <a:xfrm>
            <a:off x="2378901" y="6382867"/>
            <a:ext cx="7510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Unrestricted distribution and usage rights granted by Business Cyber Guardian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 dirty="0"/>
              <a:t>Unrestricted Distribution and Usage Rights granted by Business Cyber Guardian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_RzQMXE4Df0" TargetMode="External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cisa.gov/ict-scrm-task-force-member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isa.gov/sites/default/files/2024-08/PDM24064%20Software%20Acquisition%20Guide%20for%20Government%20Enterprise%20Consumers%20Final-%2020240710_v19.xlsx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isa.gov/sites/default/files/2024-07/PDM24050%20Software%20Acquisition%20Guide%20for%20Government%20Enterprise%20ConsumersV2_508c.pdf" TargetMode="External"/><Relationship Id="rId3" Type="http://schemas.openxmlformats.org/officeDocument/2006/relationships/hyperlink" Target="https://www.youtube.com/watch?v=_RzQMXE4Df0" TargetMode="External"/><Relationship Id="rId7" Type="http://schemas.openxmlformats.org/officeDocument/2006/relationships/hyperlink" Target="https://cisa.gov/sag" TargetMode="External"/><Relationship Id="rId2" Type="http://schemas.openxmlformats.org/officeDocument/2006/relationships/hyperlink" Target="https://www.nasa.gov/secure-software-development-self-attestation-resources-and-knowledge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rjb4standards/CISASAGReader/blob/main/README.md" TargetMode="External"/><Relationship Id="rId11" Type="http://schemas.openxmlformats.org/officeDocument/2006/relationships/hyperlink" Target="https://www.linkedin.com/groups/13274064/" TargetMode="External"/><Relationship Id="rId5" Type="http://schemas.openxmlformats.org/officeDocument/2006/relationships/hyperlink" Target="https://www.cisa.gov/resources-tools/resources/no-cost-cybersecurity-services-and-tools" TargetMode="External"/><Relationship Id="rId10" Type="http://schemas.openxmlformats.org/officeDocument/2006/relationships/hyperlink" Target="https://www.cisa.gov/sites/default/files/2024-10/ICT%20SCRM%20Task%20Force%20Software%20Acquisition%20Guide%20Fact%20Sheet%20%28508%29.pdf" TargetMode="External"/><Relationship Id="rId4" Type="http://schemas.openxmlformats.org/officeDocument/2006/relationships/hyperlink" Target="https://www.youtube.com/watch?v=0iYITlQfi3A" TargetMode="External"/><Relationship Id="rId9" Type="http://schemas.openxmlformats.org/officeDocument/2006/relationships/hyperlink" Target="https://www.cisa.gov/sites/default/files/2024-08/PDM24064%20Software%20Acquisition%20Guide%20for%20Government%20Enterprise%20Consumers%20Final-%2020240710_v19.xlsx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businesscyberguardian.com/" TargetMode="External"/><Relationship Id="rId2" Type="http://schemas.openxmlformats.org/officeDocument/2006/relationships/hyperlink" Target="mailto:dick@businesscyberguardian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8521E-4087-BEB5-7A8F-D52F451F9F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CISA Secure by Design Software Acquisition Guide (SAG)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EC8BA9-ACCE-47C8-5D2C-8880829D97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Best Practices to Verify Products for Secure by Design and Secure by Default</a:t>
            </a:r>
          </a:p>
        </p:txBody>
      </p:sp>
    </p:spTree>
    <p:extLst>
      <p:ext uri="{BB962C8B-B14F-4D97-AF65-F5344CB8AC3E}">
        <p14:creationId xmlns:p14="http://schemas.microsoft.com/office/powerpoint/2010/main" val="172033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CDC48-9524-D41D-3684-64B2C679A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8098C-C7D0-7A6C-3DAF-CE7927128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532965"/>
            <a:ext cx="5786717" cy="4258235"/>
          </a:xfrm>
        </p:spPr>
        <p:txBody>
          <a:bodyPr/>
          <a:lstStyle/>
          <a:p>
            <a:r>
              <a:rPr lang="en-US" dirty="0"/>
              <a:t>What is the CISA Software Acquisition Guide (SAG) </a:t>
            </a:r>
          </a:p>
          <a:p>
            <a:r>
              <a:rPr lang="en-US" dirty="0"/>
              <a:t>Who created the SAG materials</a:t>
            </a:r>
          </a:p>
          <a:p>
            <a:r>
              <a:rPr lang="en-US" dirty="0"/>
              <a:t>How do Product Manufacturers use the SAG</a:t>
            </a:r>
          </a:p>
          <a:p>
            <a:r>
              <a:rPr lang="en-US" dirty="0"/>
              <a:t>How do Consumers use the SAG to assess a product for Secure by Design Best Practices</a:t>
            </a:r>
          </a:p>
          <a:p>
            <a:r>
              <a:rPr lang="en-US" dirty="0"/>
              <a:t>Resources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7A11F1-1453-D027-DEA2-4A1CFA1EC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199" y="396008"/>
            <a:ext cx="4429743" cy="572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83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62108-EEB7-6D3A-29F8-79B167B7A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CISA Software acquisition guide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5F86F-3DBE-283C-A01E-69FBD96EE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5517775" cy="3649133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 Aligns with CISA Secure by Design principles but focuses on the “Secure by Demand” elements.</a:t>
            </a:r>
          </a:p>
          <a:p>
            <a:r>
              <a:rPr lang="en-US" dirty="0"/>
              <a:t>Identifies Secure by Design best practices across the entire software life cycle</a:t>
            </a:r>
          </a:p>
          <a:p>
            <a:r>
              <a:rPr lang="en-US" dirty="0"/>
              <a:t> Enables acquisition professionals to engage in more relevant discussions with their enterprise risk owners (such as Chief Information Officers and Chief Information Security Officers) and candidate suppliers</a:t>
            </a:r>
          </a:p>
          <a:p>
            <a:r>
              <a:rPr lang="en-US" dirty="0"/>
              <a:t>A virtual “Secure by Design” checklist for consumers and producers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480D8F-FE21-F030-5215-C5EB20416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18" y="2065867"/>
            <a:ext cx="4929320" cy="36491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0A949C-6B49-EF66-22F0-D387C5B66781}"/>
              </a:ext>
            </a:extLst>
          </p:cNvPr>
          <p:cNvSpPr txBox="1"/>
          <p:nvPr/>
        </p:nvSpPr>
        <p:spPr>
          <a:xfrm>
            <a:off x="7584141" y="5791200"/>
            <a:ext cx="31036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View the CISA NASPO Webinar </a:t>
            </a:r>
          </a:p>
          <a:p>
            <a:r>
              <a:rPr lang="en-US" dirty="0">
                <a:hlinkClick r:id="rId3"/>
              </a:rPr>
              <a:t>for a comprehensive overview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623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A59BAD-08CF-08D7-282F-B79328A64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81" y="609600"/>
            <a:ext cx="11866961" cy="5567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613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A047F-5EAC-812D-4449-2129691FE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created the SAG 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50E7A-8C65-9D3B-9053-0C7B6A7E2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2" y="2142067"/>
            <a:ext cx="5239870" cy="3649133"/>
          </a:xfrm>
        </p:spPr>
        <p:txBody>
          <a:bodyPr/>
          <a:lstStyle/>
          <a:p>
            <a:r>
              <a:rPr lang="en-US" dirty="0"/>
              <a:t>CISA ICT_SCRM Task Force (CIPAC partnership)</a:t>
            </a:r>
          </a:p>
          <a:p>
            <a:r>
              <a:rPr lang="en-US" dirty="0"/>
              <a:t>CISA National Risk Management Center</a:t>
            </a:r>
          </a:p>
          <a:p>
            <a:r>
              <a:rPr lang="en-US" dirty="0"/>
              <a:t>Core group of ~30 people working on the  SAG document</a:t>
            </a:r>
          </a:p>
          <a:p>
            <a:r>
              <a:rPr lang="en-US" dirty="0"/>
              <a:t>Mostly from Government Agencies (NASA, GSA, CISA, NSA) and Private Sector </a:t>
            </a:r>
            <a:r>
              <a:rPr lang="en-US" dirty="0">
                <a:hlinkClick r:id="rId2"/>
              </a:rPr>
              <a:t>https://www.cisa.gov/ict-scrm-task-force-members</a:t>
            </a:r>
            <a:r>
              <a:rPr lang="en-US" dirty="0"/>
              <a:t> </a:t>
            </a:r>
          </a:p>
          <a:p>
            <a:r>
              <a:rPr lang="en-US" dirty="0"/>
              <a:t>Led and facilitated by CISA personnel over two years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D2F443-0DDE-75CD-537E-7728BCB97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8380" y="2065867"/>
            <a:ext cx="2838846" cy="6001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7DD4EF-8DEE-876F-FB66-1F23620E56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6353" y="3088341"/>
            <a:ext cx="6096000" cy="1274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287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19684-9F91-919C-6B11-69DF5DD05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Secure by Design, Default, </a:t>
            </a:r>
            <a:r>
              <a:rPr lang="en-US" dirty="0" err="1"/>
              <a:t>DEmand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7EB5A8-13B6-B6B4-5E66-2222D5A35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8675" y="1788411"/>
            <a:ext cx="5487166" cy="471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065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A3517-6A34-2DCF-3FE3-BDA80D74C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Product Manufacturers use the SAG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9D27D-EEF3-052A-D231-52BFED5C4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Self Assessment of adherence to Secure by Design best practices in the SAG</a:t>
            </a:r>
          </a:p>
          <a:p>
            <a:r>
              <a:rPr lang="en-US" dirty="0"/>
              <a:t>Perform self assessment before submitting a product to the US Government for procurement</a:t>
            </a:r>
          </a:p>
          <a:p>
            <a:r>
              <a:rPr lang="en-US" dirty="0"/>
              <a:t>Answer the 19 Governance Questions, at a minimum</a:t>
            </a:r>
          </a:p>
          <a:p>
            <a:r>
              <a:rPr lang="en-US" dirty="0"/>
              <a:t>Address any “red flags” where lack of adherence to Secure by Design could block a product from being purchased</a:t>
            </a:r>
          </a:p>
          <a:p>
            <a:r>
              <a:rPr lang="en-US" dirty="0"/>
              <a:t>Create SAG Spreadsheet once and send to everyone that asks to show your Secure by Design practices</a:t>
            </a:r>
          </a:p>
          <a:p>
            <a:r>
              <a:rPr lang="en-US" dirty="0"/>
              <a:t>Track Secure by Design practices per product</a:t>
            </a:r>
          </a:p>
        </p:txBody>
      </p:sp>
    </p:spTree>
    <p:extLst>
      <p:ext uri="{BB962C8B-B14F-4D97-AF65-F5344CB8AC3E}">
        <p14:creationId xmlns:p14="http://schemas.microsoft.com/office/powerpoint/2010/main" val="2931975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4F99F-A024-CFA6-ECD8-125C969B6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Consumers use the CISA SAG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FC5C5-5DD2-791F-AF33-285AC60FD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Assess a product and supplier for adherence to Secure by Design best practices</a:t>
            </a:r>
          </a:p>
          <a:p>
            <a:r>
              <a:rPr lang="en-US" dirty="0"/>
              <a:t>Five step process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Download the </a:t>
            </a:r>
            <a:r>
              <a:rPr lang="en-US" dirty="0">
                <a:hlinkClick r:id="rId2"/>
              </a:rPr>
              <a:t>CISA SAG Spreadsheet 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Send the spreadsheet to your suppliers with a cover letter asking them to answer the 19 governance questions, at a minimum and return the completed spreadsheet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Place the completed SAG Spreadsheets received in a permanent location for later review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Evaluate each returned spreadsheet and decide if the provided responses are acceptable within your risk threshold and tolerance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Keep a history of each analysis in a “log book” with PASS/FAIL results</a:t>
            </a:r>
          </a:p>
        </p:txBody>
      </p:sp>
    </p:spTree>
    <p:extLst>
      <p:ext uri="{BB962C8B-B14F-4D97-AF65-F5344CB8AC3E}">
        <p14:creationId xmlns:p14="http://schemas.microsoft.com/office/powerpoint/2010/main" val="1617937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B49E0-1847-3180-C9F9-665CAE631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627529"/>
          </a:xfrm>
        </p:spPr>
        <p:txBody>
          <a:bodyPr>
            <a:normAutofit fontScale="90000"/>
          </a:bodyPr>
          <a:lstStyle/>
          <a:p>
            <a:r>
              <a:rPr lang="en-US" dirty="0"/>
              <a:t>Popularity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4E2AEE-62C6-2127-9663-F6A098A1F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952" y="1353029"/>
            <a:ext cx="9543451" cy="4115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569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54188-6A12-E86A-A7B4-BA6C51FC6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25507"/>
            <a:ext cx="10131425" cy="744070"/>
          </a:xfrm>
        </p:spPr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DFFFC-0E6E-0685-8769-97C3864DF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869577"/>
            <a:ext cx="10131425" cy="492162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NASA SCRM Process Documentation</a:t>
            </a:r>
          </a:p>
          <a:p>
            <a:pPr lvl="1"/>
            <a:r>
              <a:rPr lang="en-US" dirty="0">
                <a:hlinkClick r:id="rId2"/>
              </a:rPr>
              <a:t>https://www.nasa.gov/secure-software-development-self-attestation-resources-and-knowledge/</a:t>
            </a:r>
            <a:r>
              <a:rPr lang="en-US" dirty="0"/>
              <a:t> </a:t>
            </a:r>
          </a:p>
          <a:p>
            <a:r>
              <a:rPr lang="en-US" dirty="0"/>
              <a:t>CISA SAG Videos</a:t>
            </a:r>
          </a:p>
          <a:p>
            <a:pPr lvl="1"/>
            <a:r>
              <a:rPr lang="en-US" dirty="0"/>
              <a:t>NASPO Webinar: </a:t>
            </a:r>
            <a:r>
              <a:rPr lang="en-US" dirty="0">
                <a:hlinkClick r:id="rId3"/>
              </a:rPr>
              <a:t>https://www.youtube.com/watch?v=_RzQMXE4Df0</a:t>
            </a:r>
            <a:endParaRPr lang="en-US" dirty="0"/>
          </a:p>
          <a:p>
            <a:pPr lvl="1"/>
            <a:r>
              <a:rPr lang="en-US" dirty="0"/>
              <a:t>Tom Fanning Keynote: </a:t>
            </a:r>
            <a:r>
              <a:rPr lang="en-US" dirty="0">
                <a:hlinkClick r:id="rId4"/>
              </a:rPr>
              <a:t>https://www.youtube.com/watch?v=0iYITlQfi3A</a:t>
            </a:r>
            <a:r>
              <a:rPr lang="en-US" dirty="0"/>
              <a:t> </a:t>
            </a:r>
          </a:p>
          <a:p>
            <a:r>
              <a:rPr lang="en-US" dirty="0"/>
              <a:t>CISA Free Services and Open Source Tools</a:t>
            </a:r>
          </a:p>
          <a:p>
            <a:pPr lvl="1"/>
            <a:r>
              <a:rPr lang="en-US" dirty="0">
                <a:hlinkClick r:id="rId5"/>
              </a:rPr>
              <a:t>https://www.cisa.gov/resources-tools/resources/no-cost-cybersecurity-services-and-tools</a:t>
            </a:r>
            <a:r>
              <a:rPr lang="en-US" dirty="0"/>
              <a:t> </a:t>
            </a:r>
          </a:p>
          <a:p>
            <a:pPr lvl="1"/>
            <a:r>
              <a:rPr lang="en-US" dirty="0">
                <a:hlinkClick r:id="rId6"/>
              </a:rPr>
              <a:t>https://github.com/rjb4standards/CISASAGReader/blob/main/README.md</a:t>
            </a:r>
            <a:r>
              <a:rPr lang="en-US" dirty="0"/>
              <a:t>  </a:t>
            </a:r>
          </a:p>
          <a:p>
            <a:r>
              <a:rPr lang="en-US" dirty="0"/>
              <a:t>CISA SAG Website</a:t>
            </a:r>
          </a:p>
          <a:p>
            <a:pPr lvl="1"/>
            <a:r>
              <a:rPr lang="en-US" dirty="0">
                <a:hlinkClick r:id="rId7"/>
              </a:rPr>
              <a:t>https://cisa.gov/sag</a:t>
            </a:r>
            <a:endParaRPr lang="en-US" dirty="0"/>
          </a:p>
          <a:p>
            <a:pPr lvl="1"/>
            <a:r>
              <a:rPr lang="en-US" dirty="0"/>
              <a:t>SAG Document: </a:t>
            </a:r>
            <a:r>
              <a:rPr lang="en-US" dirty="0">
                <a:hlinkClick r:id="rId8"/>
              </a:rPr>
              <a:t>https://www.cisa.gov/sites/default/files/2024-07/PDM24050%20Software%20Acquisition%20Guide%20for%20Government%20Enterprise%20ConsumersV2_508c.pdf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SAG Spreadsheet: </a:t>
            </a:r>
            <a:r>
              <a:rPr lang="en-US" dirty="0">
                <a:hlinkClick r:id="rId9"/>
              </a:rPr>
              <a:t>https://www.cisa.gov/sites/default/files/2024-08/PDM24064%20Software%20Acquisition%20Guide%20for%20Government%20Enterprise%20Consumers%20Final-%2020240710_v19.xlsx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SAG FACT Sheet: </a:t>
            </a:r>
            <a:r>
              <a:rPr lang="en-US" dirty="0">
                <a:hlinkClick r:id="rId10"/>
              </a:rPr>
              <a:t>https://www.cisa.gov/sites/default/files/2024-10/ICT%20SCRM%20Task%20Force%20Software%20Acquisition%20Guide%20Fact%20Sheet%20%28508%29.pdf</a:t>
            </a:r>
            <a:r>
              <a:rPr lang="en-US" dirty="0"/>
              <a:t> </a:t>
            </a:r>
          </a:p>
          <a:p>
            <a:r>
              <a:rPr lang="en-US" dirty="0"/>
              <a:t>LinkedIn SBOM SIG; Global Community of SBOM Implementers</a:t>
            </a:r>
          </a:p>
          <a:p>
            <a:pPr lvl="1"/>
            <a:r>
              <a:rPr lang="en-US" dirty="0">
                <a:hlinkClick r:id="rId11"/>
              </a:rPr>
              <a:t>https://www.linkedin.com/groups/13274064/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984504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FF353A-F2AB-4A4E-2E81-F52D5EA51AA8}"/>
              </a:ext>
            </a:extLst>
          </p:cNvPr>
          <p:cNvSpPr txBox="1"/>
          <p:nvPr/>
        </p:nvSpPr>
        <p:spPr>
          <a:xfrm>
            <a:off x="4000694" y="3056965"/>
            <a:ext cx="365484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Thank you for your time</a:t>
            </a:r>
          </a:p>
          <a:p>
            <a:pPr algn="ctr"/>
            <a:r>
              <a:rPr lang="en-US" dirty="0"/>
              <a:t>Dick Brooks</a:t>
            </a:r>
          </a:p>
          <a:p>
            <a:pPr algn="ctr"/>
            <a:r>
              <a:rPr lang="en-US" dirty="0">
                <a:hlinkClick r:id="rId2"/>
              </a:rPr>
              <a:t>dick@businesscyberguardian.com</a:t>
            </a:r>
            <a:endParaRPr lang="en-US" dirty="0"/>
          </a:p>
          <a:p>
            <a:pPr algn="ctr"/>
            <a:r>
              <a:rPr lang="en-US" dirty="0">
                <a:hlinkClick r:id="rId3"/>
              </a:rPr>
              <a:t>https://businesscyberguardian.com/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075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CG-Celestial-Background" id="{FA05001E-2570-4C8F-AC7E-06ED5E64A348}" vid="{858A18C7-8BC5-451B-B293-373C092A2AC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BCG-Celestial-Background</Template>
  <TotalTime>217</TotalTime>
  <Words>667</Words>
  <Application>Microsoft Office PowerPoint</Application>
  <PresentationFormat>Widescreen</PresentationFormat>
  <Paragraphs>59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Celestial</vt:lpstr>
      <vt:lpstr>CISA Secure by Design Software Acquisition Guide (SAG) </vt:lpstr>
      <vt:lpstr>Topics</vt:lpstr>
      <vt:lpstr>What is the CISA Software acquisition guide</vt:lpstr>
      <vt:lpstr>PowerPoint Presentation</vt:lpstr>
      <vt:lpstr>Who created the SAG materials</vt:lpstr>
      <vt:lpstr>Secure by Design, Default, DEmand</vt:lpstr>
      <vt:lpstr>How do Product Manufacturers use the SAG</vt:lpstr>
      <vt:lpstr>How do Consumers use the CISA SAG</vt:lpstr>
      <vt:lpstr>Popularity</vt:lpstr>
      <vt:lpstr>Resources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Dick Brooks</dc:creator>
  <cp:lastModifiedBy>Dick Brooks</cp:lastModifiedBy>
  <cp:revision>24</cp:revision>
  <dcterms:created xsi:type="dcterms:W3CDTF">2026-01-09T15:56:27Z</dcterms:created>
  <dcterms:modified xsi:type="dcterms:W3CDTF">2026-01-27T17:47:50Z</dcterms:modified>
</cp:coreProperties>
</file>